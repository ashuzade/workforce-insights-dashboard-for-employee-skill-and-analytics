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modernComment_10A_AD7A5881.xml" ContentType="application/vnd.ms-powerpoint.comments+xml"/>
  <Override PartName="/ppt/comments/modernComment_121_9A0543E6.xml" ContentType="application/vnd.ms-powerpoint.comments+xml"/>
  <Override PartName="/ppt/comments/modernComment_10C_EB086E9D.xml" ContentType="application/vnd.ms-powerpoint.comments+xml"/>
  <Override PartName="/ppt/comments/modernComment_10F_C73A1910.xml" ContentType="application/vnd.ms-powerpoint.comments+xml"/>
  <Override PartName="/ppt/comments/modernComment_116_60DD8B16.xml" ContentType="application/vnd.ms-powerpoint.comments+xml"/>
  <Override PartName="/ppt/comments/modernComment_112_C4560F86.xml" ContentType="application/vnd.ms-powerpoint.comments+xml"/>
  <Override PartName="/ppt/comments/modernComment_117_582C43CA.xml" ContentType="application/vnd.ms-powerpoint.comments+xml"/>
  <Override PartName="/ppt/comments/modernComment_11F_302F53AA.xml" ContentType="application/vnd.ms-powerpoint.comments+xml"/>
  <Override PartName="/ppt/comments/modernComment_11C_51A7FB7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89" r:id="rId3"/>
    <p:sldId id="268" r:id="rId4"/>
    <p:sldId id="271" r:id="rId5"/>
    <p:sldId id="278" r:id="rId6"/>
    <p:sldId id="274" r:id="rId7"/>
    <p:sldId id="275" r:id="rId8"/>
    <p:sldId id="279" r:id="rId9"/>
    <p:sldId id="285" r:id="rId10"/>
    <p:sldId id="287" r:id="rId11"/>
    <p:sldId id="284" r:id="rId12"/>
  </p:sldIdLst>
  <p:sldSz cx="14630400" cy="8229600"/>
  <p:notesSz cx="8229600" cy="14630400"/>
  <p:embeddedFontLst>
    <p:embeddedFont>
      <p:font typeface="Algerian" panose="04020705040A02060702" pitchFamily="82" charset="0"/>
      <p:regular r:id="rId14"/>
    </p:embeddedFont>
    <p:embeddedFont>
      <p:font typeface="Arial Black" panose="020B0A04020102020204" pitchFamily="34" charset="0"/>
      <p:bold r:id="rId15"/>
    </p:embeddedFont>
    <p:embeddedFont>
      <p:font typeface="Britannic Bold" panose="020B0903060703020204" pitchFamily="34" charset="0"/>
      <p:regular r:id="rId16"/>
    </p:embeddedFont>
    <p:embeddedFont>
      <p:font typeface="Franklin Gothic Medium" panose="020B0603020102020204" pitchFamily="34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623F32-9EC4-B97E-6E30-ED862013907A}" name="disha pramanick" initials="dp" userId="e932a70d90ac84a4" providerId="Windows Live"/>
  <p188:author id="{F34DE73E-DA0A-ADBD-F95F-CF137E2EF5E6}" name="Saurabh Kumar" initials="SK" userId="9bec95ec5bdab646" providerId="Windows Live"/>
  <p188:author id="{37249599-4BCA-B80F-44D2-F3267987A73F}" name="SAURABH KUMAR 23SCSE1480054" initials="S2" userId="S::saurabh.23scse1480054@galgotiasuniversity.ac.in::8ad2d459-9b8f-438c-9b37-882663ecee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ECBA"/>
    <a:srgbClr val="FF99CC"/>
    <a:srgbClr val="FF0066"/>
    <a:srgbClr val="AFF7F0"/>
    <a:srgbClr val="F9ADCF"/>
    <a:srgbClr val="F8DDF6"/>
    <a:srgbClr val="C4004B"/>
    <a:srgbClr val="ECECEC"/>
    <a:srgbClr val="E7E7E7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8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omments/modernComment_10A_AD7A58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340AD6-7920-4397-9B40-683CFA476A8C}" authorId="{F34DE73E-DA0A-ADBD-F95F-CF137E2EF5E6}" created="2026-08-21T17:34:13.685">
    <pc:sldMkLst xmlns:pc="http://schemas.microsoft.com/office/powerpoint/2013/main/command">
      <pc:docMk/>
      <pc:sldMk cId="2910476417" sldId="266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7:59:06.527" authorId="{F34DE73E-DA0A-ADBD-F95F-CF137E2EF5E6}"/>
          </p223:rxn>
        </p223:reactions>
      </p:ext>
    </p188:extLst>
  </p188:cm>
</p188:cmLst>
</file>

<file path=ppt/comments/modernComment_10C_EB086E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995F19-02B0-4C3C-9420-5A1FA3C4FBA8}" authorId="{F34DE73E-DA0A-ADBD-F95F-CF137E2EF5E6}" created="2026-08-21T17:34:07.418">
    <pc:sldMkLst xmlns:pc="http://schemas.microsoft.com/office/powerpoint/2013/main/command">
      <pc:docMk/>
      <pc:sldMk cId="3943198365" sldId="268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7:59:02.394" authorId="{F34DE73E-DA0A-ADBD-F95F-CF137E2EF5E6}"/>
          </p223:rxn>
        </p223:reactions>
      </p:ext>
    </p188:extLst>
  </p188:cm>
</p188:cmLst>
</file>

<file path=ppt/comments/modernComment_10F_C73A19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00CDDD-4AC4-4549-A79E-3916400D708F}" authorId="{F34DE73E-DA0A-ADBD-F95F-CF137E2EF5E6}" created="2026-08-21T18:26:55.446">
    <pc:sldMkLst xmlns:pc="http://schemas.microsoft.com/office/powerpoint/2013/main/command">
      <pc:docMk/>
      <pc:sldMk cId="3342473488" sldId="271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8:26:56.387" authorId="{F34DE73E-DA0A-ADBD-F95F-CF137E2EF5E6}"/>
          </p223:rxn>
        </p223:reactions>
      </p:ext>
    </p188:extLst>
  </p188:cm>
</p188:cmLst>
</file>

<file path=ppt/comments/modernComment_11C_51A7FB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D71A9B-555A-41FC-8BFC-6C935C1D4D2C}" authorId="{F34DE73E-DA0A-ADBD-F95F-CF137E2EF5E6}" created="2026-08-21T17:34:33.863">
    <pc:sldMkLst xmlns:pc="http://schemas.microsoft.com/office/powerpoint/2013/main/command">
      <pc:docMk/>
      <pc:sldMk cId="1369963381" sldId="284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F_302F53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1C667D-7312-42BD-8646-EE2E474B70FD}" authorId="{F34DE73E-DA0A-ADBD-F95F-CF137E2EF5E6}" created="2026-08-29T08:49:57.288">
    <pc:sldMkLst xmlns:pc="http://schemas.microsoft.com/office/powerpoint/2013/main/command">
      <pc:docMk/>
      <pc:sldMk cId="808407978" sldId="287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2_C4560F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071D2B-9B71-4886-88CE-1EDFF8B2A6EA}" authorId="{F34DE73E-DA0A-ADBD-F95F-CF137E2EF5E6}" created="2026-08-29T08:24:34.944">
    <pc:sldMkLst xmlns:pc="http://schemas.microsoft.com/office/powerpoint/2013/main/command">
      <pc:docMk/>
      <pc:sldMk cId="3293974406" sldId="274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6_60DD8B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7974BF-CBA8-41D0-AC6E-CC7B7EED630D}" authorId="{F34DE73E-DA0A-ADBD-F95F-CF137E2EF5E6}" created="2026-08-22T11:40:39.149">
    <pc:sldMkLst xmlns:pc="http://schemas.microsoft.com/office/powerpoint/2013/main/command">
      <pc:docMk/>
      <pc:sldMk cId="1625131798" sldId="278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7_582C43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59A6C3-0F7B-42AA-9AC3-E1FF14AD3690}" authorId="{F34DE73E-DA0A-ADBD-F95F-CF137E2EF5E6}" created="2026-08-21T17:33:17.316">
    <pc:sldMkLst xmlns:pc="http://schemas.microsoft.com/office/powerpoint/2013/main/command">
      <pc:docMk/>
      <pc:sldMk cId="1479295946" sldId="279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21_9A0543E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D5F458-77E7-4207-8396-B3AB4CB36F91}" authorId="{F34DE73E-DA0A-ADBD-F95F-CF137E2EF5E6}" created="2026-08-21T17:58:53.287">
    <pc:sldMkLst xmlns:pc="http://schemas.microsoft.com/office/powerpoint/2013/main/command">
      <pc:docMk/>
      <pc:sldMk cId="2584036326" sldId="289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7:59:09.760" authorId="{F34DE73E-DA0A-ADBD-F95F-CF137E2EF5E6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436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9CFFC-632C-C7A6-E786-1ABB0518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650F5-1C2A-621B-D78C-AF01BD84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478BE-C37B-79AE-5622-84EA273E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016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microsoft.com/office/2018/10/relationships/comments" Target="../comments/modernComment_10A_AD7A588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15.svg"/><Relationship Id="rId12" Type="http://schemas.openxmlformats.org/officeDocument/2006/relationships/image" Target="../media/image20.svg"/><Relationship Id="rId2" Type="http://schemas.microsoft.com/office/2018/10/relationships/comments" Target="../comments/modernComment_121_9A0543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9.svg"/><Relationship Id="rId5" Type="http://schemas.openxmlformats.org/officeDocument/2006/relationships/image" Target="../media/image12.png"/><Relationship Id="rId10" Type="http://schemas.openxmlformats.org/officeDocument/2006/relationships/image" Target="../media/image18.svg"/><Relationship Id="rId4" Type="http://schemas.openxmlformats.org/officeDocument/2006/relationships/image" Target="../media/image11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3.png"/><Relationship Id="rId7" Type="http://schemas.openxmlformats.org/officeDocument/2006/relationships/image" Target="../media/image23.svg"/><Relationship Id="rId2" Type="http://schemas.microsoft.com/office/2018/10/relationships/comments" Target="../comments/modernComment_10C_EB086E9D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27.png"/><Relationship Id="rId5" Type="http://schemas.openxmlformats.org/officeDocument/2006/relationships/image" Target="../media/image12.png"/><Relationship Id="rId10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37.png"/><Relationship Id="rId2" Type="http://schemas.microsoft.com/office/2018/10/relationships/comments" Target="../comments/modernComment_10F_C73A1910.xml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32.svg"/><Relationship Id="rId5" Type="http://schemas.openxmlformats.org/officeDocument/2006/relationships/image" Target="../media/image11.png"/><Relationship Id="rId15" Type="http://schemas.openxmlformats.org/officeDocument/2006/relationships/image" Target="../media/image35.png"/><Relationship Id="rId10" Type="http://schemas.openxmlformats.org/officeDocument/2006/relationships/image" Target="../media/image31.svg"/><Relationship Id="rId4" Type="http://schemas.openxmlformats.org/officeDocument/2006/relationships/image" Target="../media/image4.png"/><Relationship Id="rId9" Type="http://schemas.openxmlformats.org/officeDocument/2006/relationships/image" Target="../media/image30.sv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16_60DD8B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12_C4560F8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40.svg"/><Relationship Id="rId7" Type="http://schemas.openxmlformats.org/officeDocument/2006/relationships/image" Target="../media/image12.png"/><Relationship Id="rId12" Type="http://schemas.openxmlformats.org/officeDocument/2006/relationships/image" Target="../media/image45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44.svg"/><Relationship Id="rId5" Type="http://schemas.openxmlformats.org/officeDocument/2006/relationships/image" Target="../media/image4.png"/><Relationship Id="rId10" Type="http://schemas.openxmlformats.org/officeDocument/2006/relationships/image" Target="../media/image43.svg"/><Relationship Id="rId4" Type="http://schemas.openxmlformats.org/officeDocument/2006/relationships/image" Target="../media/image3.png"/><Relationship Id="rId9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.png"/><Relationship Id="rId1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48.png"/><Relationship Id="rId12" Type="http://schemas.openxmlformats.org/officeDocument/2006/relationships/image" Target="../media/image3.png"/><Relationship Id="rId17" Type="http://schemas.openxmlformats.org/officeDocument/2006/relationships/image" Target="../media/image53.png"/><Relationship Id="rId2" Type="http://schemas.microsoft.com/office/2018/10/relationships/comments" Target="../comments/modernComment_117_582C43CA.xml"/><Relationship Id="rId16" Type="http://schemas.microsoft.com/office/2007/relationships/hdphoto" Target="../media/hdphoto4.wdp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11" Type="http://schemas.openxmlformats.org/officeDocument/2006/relationships/image" Target="../media/image12.png"/><Relationship Id="rId5" Type="http://schemas.openxmlformats.org/officeDocument/2006/relationships/image" Target="../media/image47.png"/><Relationship Id="rId15" Type="http://schemas.openxmlformats.org/officeDocument/2006/relationships/image" Target="../media/image52.png"/><Relationship Id="rId10" Type="http://schemas.openxmlformats.org/officeDocument/2006/relationships/image" Target="../media/image50.png"/><Relationship Id="rId19" Type="http://schemas.openxmlformats.org/officeDocument/2006/relationships/image" Target="../media/image14.png"/><Relationship Id="rId4" Type="http://schemas.openxmlformats.org/officeDocument/2006/relationships/image" Target="../media/image46.png"/><Relationship Id="rId9" Type="http://schemas.microsoft.com/office/2007/relationships/hdphoto" Target="../media/hdphoto3.wdp"/><Relationship Id="rId1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57.svg"/><Relationship Id="rId3" Type="http://schemas.openxmlformats.org/officeDocument/2006/relationships/image" Target="../media/image3.png"/><Relationship Id="rId7" Type="http://schemas.openxmlformats.org/officeDocument/2006/relationships/image" Target="../media/image54.svg"/><Relationship Id="rId12" Type="http://schemas.openxmlformats.org/officeDocument/2006/relationships/image" Target="../media/image56.svg"/><Relationship Id="rId2" Type="http://schemas.microsoft.com/office/2018/10/relationships/comments" Target="../comments/modernComment_11F_302F53AA.xml"/><Relationship Id="rId16" Type="http://schemas.openxmlformats.org/officeDocument/2006/relationships/image" Target="../media/image5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35.png"/><Relationship Id="rId5" Type="http://schemas.openxmlformats.org/officeDocument/2006/relationships/image" Target="../media/image11.png"/><Relationship Id="rId15" Type="http://schemas.openxmlformats.org/officeDocument/2006/relationships/image" Target="../media/image41.svg"/><Relationship Id="rId10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33.png"/><Relationship Id="rId14" Type="http://schemas.openxmlformats.org/officeDocument/2006/relationships/image" Target="../media/image4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1C_51A7FB7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77DE22-49A3-1742-C63D-A99249EE0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01" y="7512261"/>
            <a:ext cx="14622626" cy="72794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D97BEE2A-13E8-A5ED-E0D8-5EF1E1123012}"/>
              </a:ext>
            </a:extLst>
          </p:cNvPr>
          <p:cNvSpPr txBox="1"/>
          <p:nvPr/>
        </p:nvSpPr>
        <p:spPr>
          <a:xfrm>
            <a:off x="1199341" y="2853487"/>
            <a:ext cx="12226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Workforce Insights Dashboard for Employee Skill and Analytics</a:t>
            </a:r>
            <a:endParaRPr lang="en-IN" sz="36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345FF-247D-4CD4-B491-739B10D4F972}"/>
              </a:ext>
            </a:extLst>
          </p:cNvPr>
          <p:cNvSpPr txBox="1"/>
          <p:nvPr/>
        </p:nvSpPr>
        <p:spPr>
          <a:xfrm>
            <a:off x="2766736" y="1008665"/>
            <a:ext cx="9091345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6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Franklin Gothic Medium" panose="020B06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Internship Project 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B36413-655D-B230-8772-09194A9B2D88}"/>
              </a:ext>
            </a:extLst>
          </p:cNvPr>
          <p:cNvSpPr txBox="1"/>
          <p:nvPr/>
        </p:nvSpPr>
        <p:spPr>
          <a:xfrm>
            <a:off x="4017595" y="6963853"/>
            <a:ext cx="65896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Presented by: </a:t>
            </a:r>
            <a:r>
              <a:rPr lang="en-IN" sz="2800" b="1" dirty="0"/>
              <a:t>Team 2</a:t>
            </a:r>
            <a:br>
              <a:rPr lang="en-IN" sz="2800" b="1" dirty="0">
                <a:solidFill>
                  <a:srgbClr val="C00000"/>
                </a:solidFill>
              </a:rPr>
            </a:br>
            <a:r>
              <a:rPr lang="en-IN" sz="2800" b="1" dirty="0">
                <a:solidFill>
                  <a:srgbClr val="C00000"/>
                </a:solidFill>
              </a:rPr>
              <a:t>Under the guidance of: </a:t>
            </a:r>
            <a:r>
              <a:rPr lang="en-IN" sz="2800" b="1" dirty="0"/>
              <a:t>Mrs. Neha Mam</a:t>
            </a:r>
            <a:endParaRPr lang="en-IN" sz="2800" dirty="0"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9D931-E53B-C59C-D4BB-C7EB7C3465C2}"/>
              </a:ext>
            </a:extLst>
          </p:cNvPr>
          <p:cNvSpPr txBox="1"/>
          <p:nvPr/>
        </p:nvSpPr>
        <p:spPr>
          <a:xfrm>
            <a:off x="5372518" y="2024723"/>
            <a:ext cx="387977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80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BE0577-F6C6-6008-1C2D-9B92F038A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786" y="169537"/>
            <a:ext cx="4197242" cy="8891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C7A5897-8A22-0878-E3F6-FD72475CF06A}"/>
              </a:ext>
            </a:extLst>
          </p:cNvPr>
          <p:cNvSpPr txBox="1"/>
          <p:nvPr/>
        </p:nvSpPr>
        <p:spPr>
          <a:xfrm>
            <a:off x="1995851" y="4455076"/>
            <a:ext cx="29644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150"/>
                </a:solidFill>
              </a:rPr>
              <a:t>Technology Stack: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43E492-5480-EE22-CE41-DC9D9C0C57FD}"/>
              </a:ext>
            </a:extLst>
          </p:cNvPr>
          <p:cNvGrpSpPr/>
          <p:nvPr/>
        </p:nvGrpSpPr>
        <p:grpSpPr>
          <a:xfrm>
            <a:off x="2066189" y="5116141"/>
            <a:ext cx="1030241" cy="1105406"/>
            <a:chOff x="2066189" y="5116141"/>
            <a:chExt cx="1030241" cy="1105406"/>
          </a:xfrm>
        </p:grpSpPr>
        <p:pic>
          <p:nvPicPr>
            <p:cNvPr id="23" name="Picture 22" descr="Python ">
              <a:extLst>
                <a:ext uri="{FF2B5EF4-FFF2-40B4-BE49-F238E27FC236}">
                  <a16:creationId xmlns:a16="http://schemas.microsoft.com/office/drawing/2014/main" id="{A17DD1BE-10C7-4ED9-5B54-F8F46BF36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7714" y="5116141"/>
              <a:ext cx="687192" cy="687192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AB76EA2-08DE-7D9B-899C-F7BA22DC4D79}"/>
                </a:ext>
              </a:extLst>
            </p:cNvPr>
            <p:cNvSpPr txBox="1"/>
            <p:nvPr/>
          </p:nvSpPr>
          <p:spPr>
            <a:xfrm>
              <a:off x="2066189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Python</a:t>
              </a:r>
              <a:endParaRPr lang="en-IN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A9F1FE-C584-F354-4E18-8D4E2DDB91AF}"/>
              </a:ext>
            </a:extLst>
          </p:cNvPr>
          <p:cNvGrpSpPr/>
          <p:nvPr/>
        </p:nvGrpSpPr>
        <p:grpSpPr>
          <a:xfrm>
            <a:off x="3313056" y="5165022"/>
            <a:ext cx="1030241" cy="1056525"/>
            <a:chOff x="3313056" y="5165022"/>
            <a:chExt cx="1030241" cy="1056525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A7096F4-2929-6830-34D3-6543760CE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79313" y="5165022"/>
              <a:ext cx="687193" cy="687193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539FCA-9ED7-E7DB-0188-213FC1BD84C6}"/>
                </a:ext>
              </a:extLst>
            </p:cNvPr>
            <p:cNvSpPr txBox="1"/>
            <p:nvPr/>
          </p:nvSpPr>
          <p:spPr>
            <a:xfrm>
              <a:off x="3313056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Pandas</a:t>
              </a:r>
              <a:endParaRPr lang="en-IN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A4AA97-4183-C853-70D4-E434B0AC9EAA}"/>
              </a:ext>
            </a:extLst>
          </p:cNvPr>
          <p:cNvGrpSpPr/>
          <p:nvPr/>
        </p:nvGrpSpPr>
        <p:grpSpPr>
          <a:xfrm>
            <a:off x="4509554" y="5165022"/>
            <a:ext cx="1030241" cy="1056525"/>
            <a:chOff x="4509554" y="5165022"/>
            <a:chExt cx="1030241" cy="105652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B5FFAFC-D426-40E6-A353-13ADCE6E0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20913" y="5165022"/>
              <a:ext cx="721383" cy="687193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915E756-9A5E-6CFD-EB82-6FD75C155515}"/>
                </a:ext>
              </a:extLst>
            </p:cNvPr>
            <p:cNvSpPr txBox="1"/>
            <p:nvPr/>
          </p:nvSpPr>
          <p:spPr>
            <a:xfrm>
              <a:off x="4509554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Seaborn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53F32A-C085-BE71-1901-53EE653EC64F}"/>
              </a:ext>
            </a:extLst>
          </p:cNvPr>
          <p:cNvGrpSpPr/>
          <p:nvPr/>
        </p:nvGrpSpPr>
        <p:grpSpPr>
          <a:xfrm>
            <a:off x="5756421" y="5165021"/>
            <a:ext cx="1030241" cy="1056526"/>
            <a:chOff x="5756421" y="5165021"/>
            <a:chExt cx="1030241" cy="105652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D8DE8D5-F6D3-2FF4-E713-2595F2BB6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27944" y="5165021"/>
              <a:ext cx="687194" cy="687194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C38331B-B298-82BE-30DE-A39D5E443EC8}"/>
                </a:ext>
              </a:extLst>
            </p:cNvPr>
            <p:cNvSpPr txBox="1"/>
            <p:nvPr/>
          </p:nvSpPr>
          <p:spPr>
            <a:xfrm>
              <a:off x="5756421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Power BI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CBF2D1-C3CE-B35A-E683-2C81E0E4C6B7}"/>
              </a:ext>
            </a:extLst>
          </p:cNvPr>
          <p:cNvGrpSpPr/>
          <p:nvPr/>
        </p:nvGrpSpPr>
        <p:grpSpPr>
          <a:xfrm>
            <a:off x="8067935" y="5175185"/>
            <a:ext cx="1421288" cy="1046362"/>
            <a:chOff x="8067935" y="5175185"/>
            <a:chExt cx="1421288" cy="104636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52935E2-95A4-BC60-A887-C04ED7796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59470" y="5175185"/>
              <a:ext cx="687193" cy="687193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64573B0-9526-204B-5487-A958E7985045}"/>
                </a:ext>
              </a:extLst>
            </p:cNvPr>
            <p:cNvSpPr txBox="1"/>
            <p:nvPr/>
          </p:nvSpPr>
          <p:spPr>
            <a:xfrm>
              <a:off x="8067935" y="5852215"/>
              <a:ext cx="14212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Python Flask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89E5E75-23CE-D27F-752E-5A8F9C1E9A07}"/>
              </a:ext>
            </a:extLst>
          </p:cNvPr>
          <p:cNvGrpSpPr/>
          <p:nvPr/>
        </p:nvGrpSpPr>
        <p:grpSpPr>
          <a:xfrm>
            <a:off x="9635511" y="5159586"/>
            <a:ext cx="1421288" cy="1061961"/>
            <a:chOff x="9635511" y="5159586"/>
            <a:chExt cx="1421288" cy="106196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F0865A0-67BC-E9C3-B3E2-6B5EB2C6D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772500" y="5159586"/>
              <a:ext cx="1066353" cy="682466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ABD9140-AD74-CB79-7209-2AF8F3DD725D}"/>
                </a:ext>
              </a:extLst>
            </p:cNvPr>
            <p:cNvSpPr txBox="1"/>
            <p:nvPr/>
          </p:nvSpPr>
          <p:spPr>
            <a:xfrm>
              <a:off x="9635511" y="5852215"/>
              <a:ext cx="14212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Postgres DB</a:t>
              </a:r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E5B6FDDD-21E0-E739-55A4-6A87BA6AF2F8}"/>
              </a:ext>
            </a:extLst>
          </p:cNvPr>
          <p:cNvSpPr/>
          <p:nvPr/>
        </p:nvSpPr>
        <p:spPr>
          <a:xfrm>
            <a:off x="1442974" y="3561390"/>
            <a:ext cx="118872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Transforming workforce data into Actionable  HR intelligence using data analytics , RAG, and  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1B9C5D-8D72-306A-ED49-BCDCBD4B501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F47A1E-9A75-3A32-E45B-75011E1DF2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3DBCB0-D82A-6A7A-8DA9-D0B7E2072C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B78289A-E735-9F31-C455-2FB551E22BB9}"/>
              </a:ext>
            </a:extLst>
          </p:cNvPr>
          <p:cNvGrpSpPr/>
          <p:nvPr/>
        </p:nvGrpSpPr>
        <p:grpSpPr>
          <a:xfrm>
            <a:off x="11144001" y="5165023"/>
            <a:ext cx="1255212" cy="1072537"/>
            <a:chOff x="11272954" y="5165023"/>
            <a:chExt cx="1255212" cy="1072537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9E2580E-9DDD-C52A-1728-C4F3304701A6}"/>
                </a:ext>
              </a:extLst>
            </p:cNvPr>
            <p:cNvSpPr txBox="1"/>
            <p:nvPr/>
          </p:nvSpPr>
          <p:spPr>
            <a:xfrm>
              <a:off x="11272954" y="5868228"/>
              <a:ext cx="12552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Grok API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90FFF57-4FCF-75D7-2769-9A9632126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519566" y="5165023"/>
              <a:ext cx="677030" cy="67703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35E2E6-D274-AE15-D794-4514C5D10E87}"/>
              </a:ext>
            </a:extLst>
          </p:cNvPr>
          <p:cNvGrpSpPr/>
          <p:nvPr/>
        </p:nvGrpSpPr>
        <p:grpSpPr>
          <a:xfrm>
            <a:off x="6950021" y="5103039"/>
            <a:ext cx="1030241" cy="1118508"/>
            <a:chOff x="6950021" y="5103039"/>
            <a:chExt cx="1030241" cy="111850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4D3ACF6-B7FD-811E-5148-8D2C0D64FBB8}"/>
                </a:ext>
              </a:extLst>
            </p:cNvPr>
            <p:cNvSpPr txBox="1"/>
            <p:nvPr/>
          </p:nvSpPr>
          <p:spPr>
            <a:xfrm>
              <a:off x="6950021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 err="1"/>
                <a:t>Streamlit</a:t>
              </a:r>
              <a:endParaRPr lang="en-IN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027E8F-7B95-5ACB-EBC0-47F4F6646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018914" y="5103039"/>
              <a:ext cx="846367" cy="846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04764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CFB97-6C1B-D760-F795-68883349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6D852F7C-678F-27FA-1B02-3C9D90716D4F}"/>
              </a:ext>
            </a:extLst>
          </p:cNvPr>
          <p:cNvSpPr/>
          <p:nvPr/>
        </p:nvSpPr>
        <p:spPr>
          <a:xfrm>
            <a:off x="1303827" y="1802990"/>
            <a:ext cx="682907" cy="671332"/>
          </a:xfrm>
          <a:prstGeom prst="ellipse">
            <a:avLst/>
          </a:prstGeom>
          <a:solidFill>
            <a:srgbClr val="00B05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0EB590-FBD0-12DF-5CC9-29864E20E8BD}"/>
              </a:ext>
            </a:extLst>
          </p:cNvPr>
          <p:cNvSpPr/>
          <p:nvPr/>
        </p:nvSpPr>
        <p:spPr>
          <a:xfrm>
            <a:off x="1303821" y="5977925"/>
            <a:ext cx="682907" cy="671332"/>
          </a:xfrm>
          <a:prstGeom prst="ellipse">
            <a:avLst/>
          </a:prstGeom>
          <a:solidFill>
            <a:srgbClr val="C8009D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98221AF-B426-9A78-40E8-F574A0CAAB48}"/>
              </a:ext>
            </a:extLst>
          </p:cNvPr>
          <p:cNvSpPr/>
          <p:nvPr/>
        </p:nvSpPr>
        <p:spPr>
          <a:xfrm>
            <a:off x="1303822" y="5141357"/>
            <a:ext cx="682907" cy="671332"/>
          </a:xfrm>
          <a:prstGeom prst="ellipse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E33F35-CE91-6F6B-3DD2-E5F0598358BA}"/>
              </a:ext>
            </a:extLst>
          </p:cNvPr>
          <p:cNvSpPr/>
          <p:nvPr/>
        </p:nvSpPr>
        <p:spPr>
          <a:xfrm>
            <a:off x="1303824" y="4304789"/>
            <a:ext cx="682907" cy="671332"/>
          </a:xfrm>
          <a:prstGeom prst="ellipse">
            <a:avLst/>
          </a:prstGeom>
          <a:solidFill>
            <a:schemeClr val="accent2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02C27A-85B6-ACDF-92E2-966B01041344}"/>
              </a:ext>
            </a:extLst>
          </p:cNvPr>
          <p:cNvSpPr/>
          <p:nvPr/>
        </p:nvSpPr>
        <p:spPr>
          <a:xfrm>
            <a:off x="1303824" y="3476126"/>
            <a:ext cx="682907" cy="671332"/>
          </a:xfrm>
          <a:prstGeom prst="ellipse">
            <a:avLst/>
          </a:prstGeom>
          <a:solidFill>
            <a:schemeClr val="accent1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95B1810-5EA1-179A-9EBD-CB76AE6A8DBD}"/>
              </a:ext>
            </a:extLst>
          </p:cNvPr>
          <p:cNvSpPr/>
          <p:nvPr/>
        </p:nvSpPr>
        <p:spPr>
          <a:xfrm>
            <a:off x="1303825" y="2639558"/>
            <a:ext cx="682907" cy="671332"/>
          </a:xfrm>
          <a:prstGeom prst="ellipse">
            <a:avLst/>
          </a:prstGeom>
          <a:solidFill>
            <a:srgbClr val="FF0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11CDE4-0304-626A-78A7-38917693B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" y="7512261"/>
            <a:ext cx="14622626" cy="727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26734-E253-2635-E40E-29514D8A2471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2/11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0B8D4D-3985-B1DC-0BDF-CC2804FDC486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DD4093-6F3E-1AE6-BE77-00671161173F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4A609-2D89-B1D9-BE2C-81237B2284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E68DE4-2908-BAC2-4778-7AB4B317D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909" y="715107"/>
            <a:ext cx="485843" cy="847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B7578B-E211-4C3E-C5AB-79DA965F6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9E9C31-92E9-B2EC-8F30-4BAB92CFFE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B23A78-B399-E3F2-B46B-AE95D3BEB153}"/>
              </a:ext>
            </a:extLst>
          </p:cNvPr>
          <p:cNvSpPr txBox="1"/>
          <p:nvPr/>
        </p:nvSpPr>
        <p:spPr>
          <a:xfrm>
            <a:off x="1273215" y="1245549"/>
            <a:ext cx="583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Traditional HR analysis often faces these </a:t>
            </a:r>
            <a:r>
              <a:rPr lang="en-IN" sz="2000" b="1" dirty="0">
                <a:solidFill>
                  <a:srgbClr val="FF0150"/>
                </a:solidFill>
              </a:rPr>
              <a:t>challenges</a:t>
            </a:r>
            <a:r>
              <a:rPr lang="en-IN" sz="2000" b="1" dirty="0"/>
              <a:t>: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FA4AD8-8D07-9987-5D65-3A058F66104C}"/>
              </a:ext>
            </a:extLst>
          </p:cNvPr>
          <p:cNvCxnSpPr>
            <a:cxnSpLocks/>
          </p:cNvCxnSpPr>
          <p:nvPr/>
        </p:nvCxnSpPr>
        <p:spPr>
          <a:xfrm>
            <a:off x="2167047" y="2639558"/>
            <a:ext cx="0" cy="6713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171E93-5C59-D4ED-4167-E571D9B50EF4}"/>
              </a:ext>
            </a:extLst>
          </p:cNvPr>
          <p:cNvCxnSpPr>
            <a:cxnSpLocks/>
          </p:cNvCxnSpPr>
          <p:nvPr/>
        </p:nvCxnSpPr>
        <p:spPr>
          <a:xfrm>
            <a:off x="2169742" y="1802990"/>
            <a:ext cx="0" cy="67133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D692C2F-FE65-6CA0-BA38-957CEDB6D822}"/>
              </a:ext>
            </a:extLst>
          </p:cNvPr>
          <p:cNvCxnSpPr>
            <a:cxnSpLocks/>
          </p:cNvCxnSpPr>
          <p:nvPr/>
        </p:nvCxnSpPr>
        <p:spPr>
          <a:xfrm>
            <a:off x="2180550" y="4304789"/>
            <a:ext cx="0" cy="671332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F68B30-9BD8-4BD0-0C26-2F4A636A9C0D}"/>
              </a:ext>
            </a:extLst>
          </p:cNvPr>
          <p:cNvCxnSpPr>
            <a:cxnSpLocks/>
          </p:cNvCxnSpPr>
          <p:nvPr/>
        </p:nvCxnSpPr>
        <p:spPr>
          <a:xfrm>
            <a:off x="2170515" y="3468221"/>
            <a:ext cx="0" cy="671332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08A2E52-D899-84CA-B720-D40ECF6F243D}"/>
              </a:ext>
            </a:extLst>
          </p:cNvPr>
          <p:cNvCxnSpPr>
            <a:cxnSpLocks/>
          </p:cNvCxnSpPr>
          <p:nvPr/>
        </p:nvCxnSpPr>
        <p:spPr>
          <a:xfrm>
            <a:off x="2180550" y="5977925"/>
            <a:ext cx="0" cy="671332"/>
          </a:xfrm>
          <a:prstGeom prst="line">
            <a:avLst/>
          </a:prstGeom>
          <a:ln w="28575">
            <a:solidFill>
              <a:srgbClr val="C8009D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5A8E23-3769-1618-3CBA-0C4F092BB425}"/>
              </a:ext>
            </a:extLst>
          </p:cNvPr>
          <p:cNvCxnSpPr>
            <a:cxnSpLocks/>
          </p:cNvCxnSpPr>
          <p:nvPr/>
        </p:nvCxnSpPr>
        <p:spPr>
          <a:xfrm>
            <a:off x="2180550" y="5141357"/>
            <a:ext cx="0" cy="6713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7A39BBA-D89D-D22C-49C6-1F342B05B7CF}"/>
              </a:ext>
            </a:extLst>
          </p:cNvPr>
          <p:cNvSpPr txBox="1"/>
          <p:nvPr/>
        </p:nvSpPr>
        <p:spPr>
          <a:xfrm>
            <a:off x="2349661" y="1802990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Workforce data is distributed across different sources.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BB21AA-F0C4-5856-D05A-ED6BFA602060}"/>
              </a:ext>
            </a:extLst>
          </p:cNvPr>
          <p:cNvSpPr txBox="1"/>
          <p:nvPr/>
        </p:nvSpPr>
        <p:spPr>
          <a:xfrm>
            <a:off x="2312717" y="2664559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HR data requires significant preprocessing before analysis.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6DD502-033A-15A2-F98C-561416CB68EB}"/>
              </a:ext>
            </a:extLst>
          </p:cNvPr>
          <p:cNvSpPr txBox="1"/>
          <p:nvPr/>
        </p:nvSpPr>
        <p:spPr>
          <a:xfrm>
            <a:off x="2312717" y="3493222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Important workforce trends can be difficult to identify manually.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DFFF41-36E4-A48B-085A-A0B00BB5B49F}"/>
              </a:ext>
            </a:extLst>
          </p:cNvPr>
          <p:cNvSpPr txBox="1"/>
          <p:nvPr/>
        </p:nvSpPr>
        <p:spPr>
          <a:xfrm>
            <a:off x="2349660" y="4329790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HR managers need interactive and easy-to-understand visual analytics.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163B73-9A08-7CFE-859F-A129325D7C99}"/>
              </a:ext>
            </a:extLst>
          </p:cNvPr>
          <p:cNvSpPr txBox="1"/>
          <p:nvPr/>
        </p:nvSpPr>
        <p:spPr>
          <a:xfrm>
            <a:off x="2349661" y="5161541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Querying workforce information often requires technical knowledge.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317713-5D9C-ACCE-018F-741117DF167F}"/>
              </a:ext>
            </a:extLst>
          </p:cNvPr>
          <p:cNvSpPr txBox="1"/>
          <p:nvPr/>
        </p:nvSpPr>
        <p:spPr>
          <a:xfrm>
            <a:off x="2349659" y="6002926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reports do not provide contextual, conversational insights.</a:t>
            </a:r>
            <a:endParaRPr lang="en-IN" dirty="0"/>
          </a:p>
        </p:txBody>
      </p:sp>
      <p:pic>
        <p:nvPicPr>
          <p:cNvPr id="53" name="Graphic 52" descr="Database with solid fill">
            <a:extLst>
              <a:ext uri="{FF2B5EF4-FFF2-40B4-BE49-F238E27FC236}">
                <a16:creationId xmlns:a16="http://schemas.microsoft.com/office/drawing/2014/main" id="{228BA15C-66B4-4BD0-B09C-4A3865AFC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6283" y="1852425"/>
            <a:ext cx="547460" cy="547460"/>
          </a:xfrm>
          <a:prstGeom prst="rect">
            <a:avLst/>
          </a:prstGeom>
        </p:spPr>
      </p:pic>
      <p:pic>
        <p:nvPicPr>
          <p:cNvPr id="55" name="Graphic 54" descr="Books on shelf with solid fill">
            <a:extLst>
              <a:ext uri="{FF2B5EF4-FFF2-40B4-BE49-F238E27FC236}">
                <a16:creationId xmlns:a16="http://schemas.microsoft.com/office/drawing/2014/main" id="{F7816431-011B-4324-1DEF-808D8BC02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4387" y="4382531"/>
            <a:ext cx="504608" cy="504608"/>
          </a:xfrm>
          <a:prstGeom prst="rect">
            <a:avLst/>
          </a:prstGeom>
        </p:spPr>
      </p:pic>
      <p:pic>
        <p:nvPicPr>
          <p:cNvPr id="57" name="Graphic 56" descr="CheckList with solid fill">
            <a:extLst>
              <a:ext uri="{FF2B5EF4-FFF2-40B4-BE49-F238E27FC236}">
                <a16:creationId xmlns:a16="http://schemas.microsoft.com/office/drawing/2014/main" id="{4C51EF73-CFFD-E00A-5279-A09C165899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3036" y="2745487"/>
            <a:ext cx="484475" cy="484475"/>
          </a:xfrm>
          <a:prstGeom prst="rect">
            <a:avLst/>
          </a:prstGeom>
        </p:spPr>
      </p:pic>
      <p:pic>
        <p:nvPicPr>
          <p:cNvPr id="59" name="Graphic 58" descr="Document with solid fill">
            <a:extLst>
              <a:ext uri="{FF2B5EF4-FFF2-40B4-BE49-F238E27FC236}">
                <a16:creationId xmlns:a16="http://schemas.microsoft.com/office/drawing/2014/main" id="{45A2A6DB-1C77-5782-24A1-EF82C5088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31350" y="6069185"/>
            <a:ext cx="469878" cy="469878"/>
          </a:xfrm>
          <a:prstGeom prst="rect">
            <a:avLst/>
          </a:prstGeom>
        </p:spPr>
      </p:pic>
      <p:pic>
        <p:nvPicPr>
          <p:cNvPr id="63" name="Graphic 62" descr="Person with idea with solid fill">
            <a:extLst>
              <a:ext uri="{FF2B5EF4-FFF2-40B4-BE49-F238E27FC236}">
                <a16:creationId xmlns:a16="http://schemas.microsoft.com/office/drawing/2014/main" id="{500231E8-0E55-3A71-A2E9-9A5F0B8C4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01730" y="5222061"/>
            <a:ext cx="509923" cy="509923"/>
          </a:xfrm>
          <a:prstGeom prst="rect">
            <a:avLst/>
          </a:prstGeom>
        </p:spPr>
      </p:pic>
      <p:pic>
        <p:nvPicPr>
          <p:cNvPr id="65" name="Graphic 64" descr="Presentation with pie chart with solid fill">
            <a:extLst>
              <a:ext uri="{FF2B5EF4-FFF2-40B4-BE49-F238E27FC236}">
                <a16:creationId xmlns:a16="http://schemas.microsoft.com/office/drawing/2014/main" id="{86CB10F1-C39D-E696-8BCC-E905B5F47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92823" y="3581735"/>
            <a:ext cx="507412" cy="50741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6956E9D-13D5-265C-9E93-3019C3AFBDCA}"/>
              </a:ext>
            </a:extLst>
          </p:cNvPr>
          <p:cNvGrpSpPr/>
          <p:nvPr/>
        </p:nvGrpSpPr>
        <p:grpSpPr>
          <a:xfrm>
            <a:off x="8526982" y="1295934"/>
            <a:ext cx="4557863" cy="5424086"/>
            <a:chOff x="8526982" y="941989"/>
            <a:chExt cx="4557863" cy="542408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3223E3C-6395-1C05-E616-1844199266C3}"/>
                </a:ext>
              </a:extLst>
            </p:cNvPr>
            <p:cNvGrpSpPr/>
            <p:nvPr/>
          </p:nvGrpSpPr>
          <p:grpSpPr>
            <a:xfrm>
              <a:off x="8526982" y="941989"/>
              <a:ext cx="4557863" cy="5424086"/>
              <a:chOff x="8526982" y="941989"/>
              <a:chExt cx="4557863" cy="5424086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0A5597BB-DC2C-9A0F-AA33-9E35480EB186}"/>
                  </a:ext>
                </a:extLst>
              </p:cNvPr>
              <p:cNvSpPr/>
              <p:nvPr/>
            </p:nvSpPr>
            <p:spPr>
              <a:xfrm>
                <a:off x="8526982" y="1483148"/>
                <a:ext cx="4557863" cy="4882927"/>
              </a:xfrm>
              <a:prstGeom prst="roundRect">
                <a:avLst>
                  <a:gd name="adj" fmla="val 3743"/>
                </a:avLst>
              </a:prstGeom>
              <a:solidFill>
                <a:srgbClr val="BDEEFF">
                  <a:alpha val="30196"/>
                </a:srgbClr>
              </a:solidFill>
              <a:ln w="12700">
                <a:solidFill>
                  <a:srgbClr val="FF6997"/>
                </a:solidFill>
              </a:ln>
              <a:effectLst>
                <a:reflection blurRad="6350" stA="50000" endA="300" endPos="15000" dist="381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5D19031D-67F2-31DA-438C-B0E16BE5D128}"/>
                  </a:ext>
                </a:extLst>
              </p:cNvPr>
              <p:cNvSpPr/>
              <p:nvPr/>
            </p:nvSpPr>
            <p:spPr>
              <a:xfrm>
                <a:off x="9048928" y="941989"/>
                <a:ext cx="821802" cy="847844"/>
              </a:xfrm>
              <a:prstGeom prst="roundRect">
                <a:avLst/>
              </a:prstGeom>
              <a:solidFill>
                <a:srgbClr val="FF015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054F61C8-9F35-14FE-35F9-958C153BCCF6}"/>
                  </a:ext>
                </a:extLst>
              </p:cNvPr>
              <p:cNvSpPr/>
              <p:nvPr/>
            </p:nvSpPr>
            <p:spPr>
              <a:xfrm>
                <a:off x="9641711" y="1143737"/>
                <a:ext cx="3044142" cy="452349"/>
              </a:xfrm>
              <a:prstGeom prst="roundRect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200" b="1" dirty="0"/>
                  <a:t>Proposed Solution</a:t>
                </a:r>
              </a:p>
            </p:txBody>
          </p:sp>
          <p:pic>
            <p:nvPicPr>
              <p:cNvPr id="69" name="Graphic 68" descr="Boardroom with solid fill">
                <a:extLst>
                  <a:ext uri="{FF2B5EF4-FFF2-40B4-BE49-F238E27FC236}">
                    <a16:creationId xmlns:a16="http://schemas.microsoft.com/office/drawing/2014/main" id="{45633C6A-C9A0-11E6-C6EE-707535E03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9095857" y="1001939"/>
                <a:ext cx="727943" cy="727943"/>
              </a:xfrm>
              <a:prstGeom prst="rect">
                <a:avLst/>
              </a:prstGeom>
            </p:spPr>
          </p:pic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A54F339-D7C4-41F6-EA24-3A2F1590C22D}"/>
                  </a:ext>
                </a:extLst>
              </p:cNvPr>
              <p:cNvSpPr txBox="1"/>
              <p:nvPr/>
            </p:nvSpPr>
            <p:spPr>
              <a:xfrm>
                <a:off x="8796759" y="4007977"/>
                <a:ext cx="4027990" cy="2173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sz="2400" dirty="0"/>
                  <a:t>A unified </a:t>
                </a:r>
                <a:r>
                  <a:rPr lang="en-US" sz="2400" b="1" dirty="0">
                    <a:solidFill>
                      <a:srgbClr val="FF0150"/>
                    </a:solidFill>
                  </a:rPr>
                  <a:t>Al-powered workforce analytics platform </a:t>
                </a:r>
                <a:r>
                  <a:rPr lang="en-US" sz="2400" dirty="0"/>
                  <a:t>that combines </a:t>
                </a:r>
                <a:r>
                  <a:rPr lang="en-US" sz="2400" dirty="0">
                    <a:solidFill>
                      <a:srgbClr val="FF0150"/>
                    </a:solidFill>
                  </a:rPr>
                  <a:t>data analytics, Power BI dashboards</a:t>
                </a:r>
                <a:r>
                  <a:rPr lang="en-US" sz="2400" dirty="0"/>
                  <a:t> and a </a:t>
                </a:r>
                <a:r>
                  <a:rPr lang="en-US" sz="2400" b="1" dirty="0">
                    <a:solidFill>
                      <a:srgbClr val="FF0150"/>
                    </a:solidFill>
                  </a:rPr>
                  <a:t>RAG-based Al assistant.</a:t>
                </a:r>
                <a:endParaRPr lang="en-IN" sz="2400" b="1" dirty="0">
                  <a:solidFill>
                    <a:srgbClr val="FF0150"/>
                  </a:solidFill>
                </a:endParaRPr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6853040-A665-CBC6-6ED9-55CD3CF15E41}"/>
                  </a:ext>
                </a:extLst>
              </p:cNvPr>
              <p:cNvCxnSpPr/>
              <p:nvPr/>
            </p:nvCxnSpPr>
            <p:spPr>
              <a:xfrm flipV="1">
                <a:off x="8930814" y="3880996"/>
                <a:ext cx="3750197" cy="25001"/>
              </a:xfrm>
              <a:prstGeom prst="line">
                <a:avLst/>
              </a:prstGeom>
              <a:ln w="12700">
                <a:solidFill>
                  <a:srgbClr val="FF0150"/>
                </a:solidFill>
                <a:prstDash val="lgDash"/>
              </a:ln>
              <a:effectLst>
                <a:softEdge rad="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0DE3F1A-FA84-FF3B-3AC1-5F4F670D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55667" y="1911310"/>
              <a:ext cx="1700490" cy="1700490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7ABCC-EE60-7D3F-0CAB-38A95199B72F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0363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5" grpId="0"/>
      <p:bldP spid="47" grpId="0"/>
      <p:bldP spid="49" grpId="0"/>
      <p:bldP spid="51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8B5F2-10CC-7339-BC16-FD7FDC0A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6B25EF-9B8F-C7F1-D8F7-C2ABB798E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1E7395-C287-4FC5-E188-51BB21B02ABE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D86C8C-CBDF-978D-9C2C-CAB0BCDF4DDC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3/11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1E616-0BD6-DD65-CCCE-1F2D0D911145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4049E1-E216-6BD6-84D4-C2C8EF92142E}"/>
              </a:ext>
            </a:extLst>
          </p:cNvPr>
          <p:cNvSpPr txBox="1"/>
          <p:nvPr/>
        </p:nvSpPr>
        <p:spPr>
          <a:xfrm>
            <a:off x="2968906" y="797839"/>
            <a:ext cx="869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Our project aims to transform raw HR workforce data into actionable intelligence through: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15A05-7011-A0B3-31B1-C16D16186A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72E8E6-92B4-DDB4-E499-425923A1C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3543" y="6121258"/>
            <a:ext cx="485843" cy="8478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B6B4D4-405F-DF71-806F-6C954B75A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19CBE8-ACF3-20D6-5C2A-BC9496FD9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47" y="715107"/>
            <a:ext cx="485843" cy="84784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2EF81BB-2248-89A4-832C-C72CA037352A}"/>
              </a:ext>
            </a:extLst>
          </p:cNvPr>
          <p:cNvGrpSpPr/>
          <p:nvPr/>
        </p:nvGrpSpPr>
        <p:grpSpPr>
          <a:xfrm>
            <a:off x="526447" y="1533548"/>
            <a:ext cx="3212176" cy="4326217"/>
            <a:chOff x="3952553" y="1548909"/>
            <a:chExt cx="3212176" cy="432621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6A85091-7109-EE56-F8A0-E80B55E2825B}"/>
                </a:ext>
              </a:extLst>
            </p:cNvPr>
            <p:cNvSpPr/>
            <p:nvPr/>
          </p:nvSpPr>
          <p:spPr>
            <a:xfrm>
              <a:off x="3952553" y="2182802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F205EFA-3116-C23A-5B27-3CD14299B4B2}"/>
                </a:ext>
              </a:extLst>
            </p:cNvPr>
            <p:cNvSpPr/>
            <p:nvPr/>
          </p:nvSpPr>
          <p:spPr>
            <a:xfrm>
              <a:off x="5091276" y="1548909"/>
              <a:ext cx="934730" cy="937182"/>
            </a:xfrm>
            <a:prstGeom prst="roundRect">
              <a:avLst/>
            </a:prstGeom>
            <a:solidFill>
              <a:srgbClr val="FF53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CECC8F-CC6C-26F4-9968-F0E22E73E289}"/>
                </a:ext>
              </a:extLst>
            </p:cNvPr>
            <p:cNvSpPr txBox="1"/>
            <p:nvPr/>
          </p:nvSpPr>
          <p:spPr>
            <a:xfrm>
              <a:off x="4370944" y="2523550"/>
              <a:ext cx="276206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solidFill>
                    <a:srgbClr val="FF0150"/>
                  </a:solidFill>
                </a:rPr>
                <a:t>1. Data Analytics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BAD526-3A0B-CC75-3D8E-81466B6FAE5A}"/>
                </a:ext>
              </a:extLst>
            </p:cNvPr>
            <p:cNvSpPr txBox="1"/>
            <p:nvPr/>
          </p:nvSpPr>
          <p:spPr>
            <a:xfrm>
              <a:off x="4074289" y="3163878"/>
              <a:ext cx="2974693" cy="249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IN" dirty="0"/>
                <a:t>Workforce analysis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Employee demographics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Salary and experience analysis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Attrition analysis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Satisfaction and work life balance analysis</a:t>
              </a:r>
              <a:endParaRPr lang="en-IN" dirty="0"/>
            </a:p>
          </p:txBody>
        </p:sp>
        <p:pic>
          <p:nvPicPr>
            <p:cNvPr id="12" name="Graphic 11" descr="Statistics with solid fill">
              <a:extLst>
                <a:ext uri="{FF2B5EF4-FFF2-40B4-BE49-F238E27FC236}">
                  <a16:creationId xmlns:a16="http://schemas.microsoft.com/office/drawing/2014/main" id="{2B309AF9-AAAD-8533-0C02-BCFE5C0ED8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76951" y="1642966"/>
              <a:ext cx="786527" cy="78652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3551E8B-4C07-8209-540E-2D89B49B5480}"/>
              </a:ext>
            </a:extLst>
          </p:cNvPr>
          <p:cNvGrpSpPr/>
          <p:nvPr/>
        </p:nvGrpSpPr>
        <p:grpSpPr>
          <a:xfrm>
            <a:off x="10891779" y="1538759"/>
            <a:ext cx="3212176" cy="4319455"/>
            <a:chOff x="3952553" y="1548909"/>
            <a:chExt cx="3212176" cy="4319455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4CBE5C8-4701-5FAF-D329-618D61B9DE92}"/>
                </a:ext>
              </a:extLst>
            </p:cNvPr>
            <p:cNvSpPr/>
            <p:nvPr/>
          </p:nvSpPr>
          <p:spPr>
            <a:xfrm>
              <a:off x="3952553" y="2176040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7030A0">
                <a:alpha val="10196"/>
              </a:srgbClr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049CB81-E0DF-42B5-683F-43E83F90B491}"/>
                </a:ext>
              </a:extLst>
            </p:cNvPr>
            <p:cNvSpPr/>
            <p:nvPr/>
          </p:nvSpPr>
          <p:spPr>
            <a:xfrm>
              <a:off x="5091276" y="1548909"/>
              <a:ext cx="934730" cy="9371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0070C0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BCE7E2-7E59-52C6-AEB9-6504AD10F172}"/>
                </a:ext>
              </a:extLst>
            </p:cNvPr>
            <p:cNvSpPr txBox="1"/>
            <p:nvPr/>
          </p:nvSpPr>
          <p:spPr>
            <a:xfrm>
              <a:off x="4177607" y="2581242"/>
              <a:ext cx="28713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solidFill>
                    <a:srgbClr val="7030A0"/>
                  </a:solidFill>
                </a:rPr>
                <a:t>2. Centralized Platform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30E276F-609D-3378-E165-439236E388DD}"/>
                </a:ext>
              </a:extLst>
            </p:cNvPr>
            <p:cNvSpPr txBox="1"/>
            <p:nvPr/>
          </p:nvSpPr>
          <p:spPr>
            <a:xfrm>
              <a:off x="4074289" y="3163878"/>
              <a:ext cx="2974693" cy="2126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Dashboard access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Dataset visualization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Al assistant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Document management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Admin management</a:t>
              </a:r>
              <a:endParaRPr lang="en-IN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10A4CCD-1BBD-8EBB-61E6-7C58D38AE39E}"/>
              </a:ext>
            </a:extLst>
          </p:cNvPr>
          <p:cNvGrpSpPr/>
          <p:nvPr/>
        </p:nvGrpSpPr>
        <p:grpSpPr>
          <a:xfrm>
            <a:off x="2060294" y="6443885"/>
            <a:ext cx="10596622" cy="964538"/>
            <a:chOff x="2060294" y="6443885"/>
            <a:chExt cx="10596622" cy="964538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007E402-4172-7CC2-3121-3E342AC98C99}"/>
                </a:ext>
              </a:extLst>
            </p:cNvPr>
            <p:cNvSpPr/>
            <p:nvPr/>
          </p:nvSpPr>
          <p:spPr>
            <a:xfrm>
              <a:off x="2060294" y="6443885"/>
              <a:ext cx="10596622" cy="964538"/>
            </a:xfrm>
            <a:prstGeom prst="roundRect">
              <a:avLst>
                <a:gd name="adj" fmla="val 9857"/>
              </a:avLst>
            </a:prstGeom>
            <a:solidFill>
              <a:srgbClr val="FFE699">
                <a:alpha val="10196"/>
              </a:srgbClr>
            </a:solidFill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n-IN" dirty="0">
                  <a:solidFill>
                    <a:schemeClr val="tx1"/>
                  </a:solidFill>
                </a:rPr>
                <a:t>This creates a complete pipeline from </a:t>
              </a:r>
              <a:r>
                <a:rPr lang="en-IN" b="1" dirty="0">
                  <a:solidFill>
                    <a:srgbClr val="FF5388"/>
                  </a:solidFill>
                </a:rPr>
                <a:t>Data to Insight Decision Support</a:t>
              </a:r>
              <a:r>
                <a:rPr lang="en-IN" dirty="0">
                  <a:solidFill>
                    <a:schemeClr val="tx1"/>
                  </a:solidFill>
                </a:rPr>
                <a:t>, empowering HR teams to make smarter, faster, and data-driven workforce decisions.</a:t>
              </a:r>
            </a:p>
          </p:txBody>
        </p:sp>
        <p:pic>
          <p:nvPicPr>
            <p:cNvPr id="38" name="Graphic 37" descr="Bullseye with solid fill">
              <a:extLst>
                <a:ext uri="{FF2B5EF4-FFF2-40B4-BE49-F238E27FC236}">
                  <a16:creationId xmlns:a16="http://schemas.microsoft.com/office/drawing/2014/main" id="{147CEFF2-7BB8-8B7E-FCC2-57D488151D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93252" y="6519506"/>
              <a:ext cx="813296" cy="813296"/>
            </a:xfrm>
            <a:prstGeom prst="rect">
              <a:avLst/>
            </a:prstGeom>
          </p:spPr>
        </p:pic>
      </p:grpSp>
      <p:pic>
        <p:nvPicPr>
          <p:cNvPr id="40" name="Graphic 39" descr="Social network with solid fill">
            <a:extLst>
              <a:ext uri="{FF2B5EF4-FFF2-40B4-BE49-F238E27FC236}">
                <a16:creationId xmlns:a16="http://schemas.microsoft.com/office/drawing/2014/main" id="{3AA1FD3C-7D69-9EC6-FA07-FD2B9EA1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3446" y="1561909"/>
            <a:ext cx="875373" cy="87537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0E46C58-BBB0-D157-1743-E0DC15E116B0}"/>
              </a:ext>
            </a:extLst>
          </p:cNvPr>
          <p:cNvGrpSpPr/>
          <p:nvPr/>
        </p:nvGrpSpPr>
        <p:grpSpPr>
          <a:xfrm>
            <a:off x="3973471" y="1528501"/>
            <a:ext cx="3212176" cy="4308526"/>
            <a:chOff x="3973471" y="1528501"/>
            <a:chExt cx="3212176" cy="430852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0BEEE3F-395E-DA0C-AE4D-F85C7D7F62AC}"/>
                </a:ext>
              </a:extLst>
            </p:cNvPr>
            <p:cNvSpPr/>
            <p:nvPr/>
          </p:nvSpPr>
          <p:spPr>
            <a:xfrm>
              <a:off x="3973471" y="2144703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00B0F0">
                <a:alpha val="10196"/>
              </a:srgb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3A42CF6-C8CB-95A4-99A8-2F136114AEE6}"/>
                </a:ext>
              </a:extLst>
            </p:cNvPr>
            <p:cNvGrpSpPr/>
            <p:nvPr/>
          </p:nvGrpSpPr>
          <p:grpSpPr>
            <a:xfrm>
              <a:off x="4085413" y="1528501"/>
              <a:ext cx="2974693" cy="4105394"/>
              <a:chOff x="4085413" y="1528501"/>
              <a:chExt cx="2974693" cy="4105394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D46DD33-A1FC-DB5F-9A88-C3AA53F52FD9}"/>
                  </a:ext>
                </a:extLst>
              </p:cNvPr>
              <p:cNvSpPr/>
              <p:nvPr/>
            </p:nvSpPr>
            <p:spPr>
              <a:xfrm>
                <a:off x="5102400" y="1528501"/>
                <a:ext cx="934730" cy="937182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4D4869-82F5-5104-BC27-549A45FC04E9}"/>
                  </a:ext>
                </a:extLst>
              </p:cNvPr>
              <p:cNvSpPr txBox="1"/>
              <p:nvPr/>
            </p:nvSpPr>
            <p:spPr>
              <a:xfrm>
                <a:off x="4188731" y="2560834"/>
                <a:ext cx="287137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b="1" dirty="0">
                    <a:solidFill>
                      <a:srgbClr val="0070C0"/>
                    </a:solidFill>
                  </a:rPr>
                  <a:t>2. Business Intelligence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0C912C-8328-FA13-B5A2-F83875DA46F0}"/>
                  </a:ext>
                </a:extLst>
              </p:cNvPr>
              <p:cNvSpPr txBox="1"/>
              <p:nvPr/>
            </p:nvSpPr>
            <p:spPr>
              <a:xfrm>
                <a:off x="4085413" y="3143470"/>
                <a:ext cx="2974693" cy="2490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Interactive Power BI dashboards</a:t>
                </a:r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Executive-level KPIs</a:t>
                </a:r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Department and role analysis</a:t>
                </a:r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trend visualization</a:t>
                </a:r>
                <a:endParaRPr lang="en-IN" dirty="0"/>
              </a:p>
            </p:txBody>
          </p:sp>
          <p:pic>
            <p:nvPicPr>
              <p:cNvPr id="45" name="Graphic 44" descr="Group brainstorm with solid fill">
                <a:extLst>
                  <a:ext uri="{FF2B5EF4-FFF2-40B4-BE49-F238E27FC236}">
                    <a16:creationId xmlns:a16="http://schemas.microsoft.com/office/drawing/2014/main" id="{93E0D436-0788-5FA9-435E-0800EB40B1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134118" y="1549553"/>
                <a:ext cx="882682" cy="882682"/>
              </a:xfrm>
              <a:prstGeom prst="rect">
                <a:avLst/>
              </a:prstGeom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E475AF0-7424-F7B4-67CC-A16F2B166537}"/>
              </a:ext>
            </a:extLst>
          </p:cNvPr>
          <p:cNvGrpSpPr/>
          <p:nvPr/>
        </p:nvGrpSpPr>
        <p:grpSpPr>
          <a:xfrm>
            <a:off x="7432625" y="1518086"/>
            <a:ext cx="3212176" cy="4319455"/>
            <a:chOff x="7432625" y="1518086"/>
            <a:chExt cx="3212176" cy="4319455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48A4426-73E5-ED34-4F03-DDAA239E0AFD}"/>
                </a:ext>
              </a:extLst>
            </p:cNvPr>
            <p:cNvSpPr/>
            <p:nvPr/>
          </p:nvSpPr>
          <p:spPr>
            <a:xfrm>
              <a:off x="7432625" y="2145217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00B050">
                <a:alpha val="10196"/>
              </a:srgb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6A73E3E-33FA-DEBF-3802-60E4C1C87B1C}"/>
                </a:ext>
              </a:extLst>
            </p:cNvPr>
            <p:cNvSpPr/>
            <p:nvPr/>
          </p:nvSpPr>
          <p:spPr>
            <a:xfrm>
              <a:off x="8571348" y="1518086"/>
              <a:ext cx="934730" cy="937182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0070C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38D414E-3AD0-AB25-8791-1069A007E7BC}"/>
                </a:ext>
              </a:extLst>
            </p:cNvPr>
            <p:cNvSpPr txBox="1"/>
            <p:nvPr/>
          </p:nvSpPr>
          <p:spPr>
            <a:xfrm>
              <a:off x="7554361" y="2550419"/>
              <a:ext cx="29746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rgbClr val="00B050"/>
                  </a:solidFill>
                </a:rPr>
                <a:t>2. AI Workforce Assistant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FE1F2D8-2B33-BCA4-2446-01AEFB4095E9}"/>
                </a:ext>
              </a:extLst>
            </p:cNvPr>
            <p:cNvSpPr txBox="1"/>
            <p:nvPr/>
          </p:nvSpPr>
          <p:spPr>
            <a:xfrm>
              <a:off x="7554361" y="3133055"/>
              <a:ext cx="2974693" cy="260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RAG-based question answering</a:t>
              </a:r>
            </a:p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Al-generated workforce insights</a:t>
              </a:r>
            </a:p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Document-based knowledge retrieval</a:t>
              </a:r>
            </a:p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Admin decision-support capabilities</a:t>
              </a:r>
              <a:endParaRPr lang="en-IN" dirty="0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AC58479D-B47E-D292-B294-05F0E000A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623541" y="1576402"/>
              <a:ext cx="820550" cy="820550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8C6A9C6-F83A-5351-56C5-4DF4CE845FB4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1983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0659-4851-CF9F-4983-826EBC7AF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Diagonal Corners Rounded 37">
            <a:extLst>
              <a:ext uri="{FF2B5EF4-FFF2-40B4-BE49-F238E27FC236}">
                <a16:creationId xmlns:a16="http://schemas.microsoft.com/office/drawing/2014/main" id="{2F6B8A77-CC6A-0BBD-56A1-1ECFE39C3239}"/>
              </a:ext>
            </a:extLst>
          </p:cNvPr>
          <p:cNvSpPr/>
          <p:nvPr/>
        </p:nvSpPr>
        <p:spPr>
          <a:xfrm>
            <a:off x="2128863" y="5980794"/>
            <a:ext cx="5811371" cy="404828"/>
          </a:xfrm>
          <a:prstGeom prst="round2DiagRect">
            <a:avLst/>
          </a:prstGeom>
          <a:solidFill>
            <a:srgbClr val="FF015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Diagonal Corners Rounded 32">
            <a:extLst>
              <a:ext uri="{FF2B5EF4-FFF2-40B4-BE49-F238E27FC236}">
                <a16:creationId xmlns:a16="http://schemas.microsoft.com/office/drawing/2014/main" id="{337061DD-EAFC-E7ED-D80D-74B7097A5518}"/>
              </a:ext>
            </a:extLst>
          </p:cNvPr>
          <p:cNvSpPr/>
          <p:nvPr/>
        </p:nvSpPr>
        <p:spPr>
          <a:xfrm>
            <a:off x="2128863" y="5356130"/>
            <a:ext cx="5811371" cy="404828"/>
          </a:xfrm>
          <a:prstGeom prst="round2DiagRect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4FDBB9A3-FC8F-D73F-AA8A-902ADAEEB9B8}"/>
              </a:ext>
            </a:extLst>
          </p:cNvPr>
          <p:cNvSpPr/>
          <p:nvPr/>
        </p:nvSpPr>
        <p:spPr>
          <a:xfrm>
            <a:off x="2128863" y="4752925"/>
            <a:ext cx="5811371" cy="404828"/>
          </a:xfrm>
          <a:prstGeom prst="round2DiagRect">
            <a:avLst/>
          </a:prstGeom>
          <a:solidFill>
            <a:schemeClr val="accent1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6F95BF3D-A974-3CCD-82ED-CA28E8057839}"/>
              </a:ext>
            </a:extLst>
          </p:cNvPr>
          <p:cNvSpPr/>
          <p:nvPr/>
        </p:nvSpPr>
        <p:spPr>
          <a:xfrm>
            <a:off x="2128863" y="4172987"/>
            <a:ext cx="5811371" cy="404828"/>
          </a:xfrm>
          <a:prstGeom prst="round2DiagRect">
            <a:avLst/>
          </a:prstGeom>
          <a:solidFill>
            <a:schemeClr val="accent6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FB051775-6D51-2B10-01BB-243B93113334}"/>
              </a:ext>
            </a:extLst>
          </p:cNvPr>
          <p:cNvSpPr/>
          <p:nvPr/>
        </p:nvSpPr>
        <p:spPr>
          <a:xfrm>
            <a:off x="2128862" y="2306141"/>
            <a:ext cx="5811371" cy="404828"/>
          </a:xfrm>
          <a:prstGeom prst="round2DiagRect">
            <a:avLst/>
          </a:prstGeom>
          <a:solidFill>
            <a:srgbClr val="D09E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E8E24C38-2BDB-9C24-B5F7-847C2FA5998A}"/>
              </a:ext>
            </a:extLst>
          </p:cNvPr>
          <p:cNvSpPr/>
          <p:nvPr/>
        </p:nvSpPr>
        <p:spPr>
          <a:xfrm>
            <a:off x="2128863" y="2932633"/>
            <a:ext cx="5811371" cy="404828"/>
          </a:xfrm>
          <a:prstGeom prst="round2DiagRect">
            <a:avLst/>
          </a:prstGeom>
          <a:solidFill>
            <a:srgbClr val="C8009D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D11DEA27-518D-FB27-9A96-2D222001AD70}"/>
              </a:ext>
            </a:extLst>
          </p:cNvPr>
          <p:cNvSpPr/>
          <p:nvPr/>
        </p:nvSpPr>
        <p:spPr>
          <a:xfrm>
            <a:off x="2128863" y="3525847"/>
            <a:ext cx="5811371" cy="404828"/>
          </a:xfrm>
          <a:prstGeom prst="round2DiagRect">
            <a:avLst/>
          </a:prstGeom>
          <a:solidFill>
            <a:schemeClr val="accent2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260CFD1C-57E4-F7E9-3CCC-0BE39E1A7E86}"/>
              </a:ext>
            </a:extLst>
          </p:cNvPr>
          <p:cNvSpPr/>
          <p:nvPr/>
        </p:nvSpPr>
        <p:spPr>
          <a:xfrm>
            <a:off x="2128863" y="1665766"/>
            <a:ext cx="5811370" cy="404828"/>
          </a:xfrm>
          <a:prstGeom prst="round2Diag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0E88FE-F976-E388-46BC-9BEFDFC3E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7171D2-24CB-7EAA-90B4-DE692C15B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0A3C1-9FDD-70C8-B79F-4468E66813EC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4/11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C2A8D-EB1F-ACBF-7A15-15D0D483963F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560A9A-FA0E-B979-B4AA-4FA91EDB207B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Project Objectives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9BE9F-129D-E1A8-886A-CCE92BA927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209A77-29C1-523C-980F-CA23A1F34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7625C5-AE72-7DF6-D930-6D0AEBB62E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9224B74-F6C9-418D-3EEC-53A239B09AE0}"/>
              </a:ext>
            </a:extLst>
          </p:cNvPr>
          <p:cNvSpPr txBox="1"/>
          <p:nvPr/>
        </p:nvSpPr>
        <p:spPr>
          <a:xfrm>
            <a:off x="1481559" y="1047887"/>
            <a:ext cx="48382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5388"/>
                </a:solidFill>
              </a:rPr>
              <a:t>Primary Objectives:</a:t>
            </a:r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ED2DED97-C337-E236-837A-26D21AE26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5257" y="1600625"/>
            <a:ext cx="547460" cy="547460"/>
          </a:xfrm>
          <a:prstGeom prst="rect">
            <a:avLst/>
          </a:prstGeom>
        </p:spPr>
      </p:pic>
      <p:pic>
        <p:nvPicPr>
          <p:cNvPr id="14" name="Graphic 13" descr="Lock with solid fill">
            <a:extLst>
              <a:ext uri="{FF2B5EF4-FFF2-40B4-BE49-F238E27FC236}">
                <a16:creationId xmlns:a16="http://schemas.microsoft.com/office/drawing/2014/main" id="{6EF1E8F4-43DC-F56E-BDAB-66C9834DE2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45257" y="5288324"/>
            <a:ext cx="547460" cy="547460"/>
          </a:xfrm>
          <a:prstGeom prst="rect">
            <a:avLst/>
          </a:prstGeom>
        </p:spPr>
      </p:pic>
      <p:pic>
        <p:nvPicPr>
          <p:cNvPr id="16" name="Graphic 15" descr="Scales of justice with solid fill">
            <a:extLst>
              <a:ext uri="{FF2B5EF4-FFF2-40B4-BE49-F238E27FC236}">
                <a16:creationId xmlns:a16="http://schemas.microsoft.com/office/drawing/2014/main" id="{413ACF47-C7E3-B011-3A75-9E681CD72B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5539" y="5918305"/>
            <a:ext cx="547461" cy="547461"/>
          </a:xfrm>
          <a:prstGeom prst="rect">
            <a:avLst/>
          </a:prstGeom>
        </p:spPr>
      </p:pic>
      <p:pic>
        <p:nvPicPr>
          <p:cNvPr id="21" name="Graphic 20" descr="Research with solid fill">
            <a:extLst>
              <a:ext uri="{FF2B5EF4-FFF2-40B4-BE49-F238E27FC236}">
                <a16:creationId xmlns:a16="http://schemas.microsoft.com/office/drawing/2014/main" id="{A67CBC7E-0050-15A1-0303-758445589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6520" y="2223769"/>
            <a:ext cx="547460" cy="547460"/>
          </a:xfrm>
          <a:prstGeom prst="rect">
            <a:avLst/>
          </a:prstGeom>
        </p:spPr>
      </p:pic>
      <p:pic>
        <p:nvPicPr>
          <p:cNvPr id="23" name="Graphic 22" descr="Bar graph with upward trend with solid fill">
            <a:extLst>
              <a:ext uri="{FF2B5EF4-FFF2-40B4-BE49-F238E27FC236}">
                <a16:creationId xmlns:a16="http://schemas.microsoft.com/office/drawing/2014/main" id="{411A1009-5B35-DE7B-D384-4BB8E99F0A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71518" y="2852983"/>
            <a:ext cx="541390" cy="5413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A67F8E7-38D0-E619-539E-4C8129969B82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6874" y="4722415"/>
            <a:ext cx="485843" cy="48584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D851779-6549-4518-E829-83EBF9701998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18829" y="3500044"/>
            <a:ext cx="494171" cy="49417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141AC39-6187-5836-3E11-7EDAACBB408A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65539" y="4099271"/>
            <a:ext cx="547369" cy="54736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8658CA1-E432-B34B-5700-D2447F72E6F2}"/>
              </a:ext>
            </a:extLst>
          </p:cNvPr>
          <p:cNvSpPr txBox="1"/>
          <p:nvPr/>
        </p:nvSpPr>
        <p:spPr>
          <a:xfrm>
            <a:off x="2198315" y="1689689"/>
            <a:ext cx="455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 and validate workforce data.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18A319-78D9-E90F-438A-CDF01502146F}"/>
              </a:ext>
            </a:extLst>
          </p:cNvPr>
          <p:cNvSpPr txBox="1"/>
          <p:nvPr/>
        </p:nvSpPr>
        <p:spPr>
          <a:xfrm>
            <a:off x="2213497" y="2315868"/>
            <a:ext cx="524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 comprehensive exploratory data analysis.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27518B-C823-5210-1DBE-C86B335E48E0}"/>
              </a:ext>
            </a:extLst>
          </p:cNvPr>
          <p:cNvSpPr txBox="1"/>
          <p:nvPr/>
        </p:nvSpPr>
        <p:spPr>
          <a:xfrm>
            <a:off x="2198315" y="2939012"/>
            <a:ext cx="5371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factors associated with employee attrition.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8D4D47-E9C9-23B8-5331-194B3414CCDC}"/>
              </a:ext>
            </a:extLst>
          </p:cNvPr>
          <p:cNvSpPr txBox="1"/>
          <p:nvPr/>
        </p:nvSpPr>
        <p:spPr>
          <a:xfrm>
            <a:off x="2198315" y="3562156"/>
            <a:ext cx="5610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an interactive workforce intelligence dashboard.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BF4617-CCD0-5179-2F95-6EC58274CA12}"/>
              </a:ext>
            </a:extLst>
          </p:cNvPr>
          <p:cNvSpPr txBox="1"/>
          <p:nvPr/>
        </p:nvSpPr>
        <p:spPr>
          <a:xfrm>
            <a:off x="2213498" y="4188289"/>
            <a:ext cx="455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executive-level workforce KPIs.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CAA36B-3F44-FFFC-7825-3637255FA44F}"/>
              </a:ext>
            </a:extLst>
          </p:cNvPr>
          <p:cNvSpPr txBox="1"/>
          <p:nvPr/>
        </p:nvSpPr>
        <p:spPr>
          <a:xfrm>
            <a:off x="2233038" y="4779645"/>
            <a:ext cx="5108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RAG-based Al Workforce Assistant.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82A5EA-5E3D-F22C-6EB0-5999EE2E98DA}"/>
              </a:ext>
            </a:extLst>
          </p:cNvPr>
          <p:cNvSpPr txBox="1"/>
          <p:nvPr/>
        </p:nvSpPr>
        <p:spPr>
          <a:xfrm>
            <a:off x="2213498" y="5382676"/>
            <a:ext cx="524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secure administrative management.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5603A5-CDF0-032A-5B38-F2947DA8FA4F}"/>
              </a:ext>
            </a:extLst>
          </p:cNvPr>
          <p:cNvSpPr txBox="1"/>
          <p:nvPr/>
        </p:nvSpPr>
        <p:spPr>
          <a:xfrm>
            <a:off x="2213498" y="6007369"/>
            <a:ext cx="455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data-driven HR decision-making.</a:t>
            </a:r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E3DCC2-0455-D371-4B2C-6942FA3EAA62}"/>
              </a:ext>
            </a:extLst>
          </p:cNvPr>
          <p:cNvGrpSpPr/>
          <p:nvPr/>
        </p:nvGrpSpPr>
        <p:grpSpPr>
          <a:xfrm>
            <a:off x="3203355" y="6687203"/>
            <a:ext cx="9540372" cy="964538"/>
            <a:chOff x="3203355" y="6687203"/>
            <a:chExt cx="9540372" cy="964538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6A2F1444-3262-44C5-4532-7D0F49E6A722}"/>
                </a:ext>
              </a:extLst>
            </p:cNvPr>
            <p:cNvSpPr/>
            <p:nvPr/>
          </p:nvSpPr>
          <p:spPr>
            <a:xfrm>
              <a:off x="3203355" y="6687203"/>
              <a:ext cx="9540372" cy="964538"/>
            </a:xfrm>
            <a:prstGeom prst="roundRect">
              <a:avLst>
                <a:gd name="adj" fmla="val 9857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n-IN" sz="2000" dirty="0">
                  <a:solidFill>
                    <a:schemeClr val="tx1"/>
                  </a:solidFill>
                </a:rPr>
                <a:t>Our mission is to turn </a:t>
              </a:r>
              <a:r>
                <a:rPr lang="en-IN" sz="2000" dirty="0">
                  <a:solidFill>
                    <a:srgbClr val="B32380"/>
                  </a:solidFill>
                </a:rPr>
                <a:t>workforce data</a:t>
              </a:r>
              <a:r>
                <a:rPr lang="en-IN" sz="2000" dirty="0">
                  <a:solidFill>
                    <a:schemeClr val="tx1"/>
                  </a:solidFill>
                </a:rPr>
                <a:t> into </a:t>
              </a:r>
              <a:r>
                <a:rPr lang="en-IN" sz="2000" dirty="0">
                  <a:solidFill>
                    <a:srgbClr val="B32380"/>
                  </a:solidFill>
                </a:rPr>
                <a:t>meaningful insights </a:t>
              </a:r>
              <a:r>
                <a:rPr lang="en-IN" sz="2000" dirty="0">
                  <a:solidFill>
                    <a:schemeClr val="tx1"/>
                  </a:solidFill>
                </a:rPr>
                <a:t>and empower HR teams to make </a:t>
              </a:r>
              <a:r>
                <a:rPr lang="en-IN" sz="2000" dirty="0">
                  <a:solidFill>
                    <a:srgbClr val="B32380"/>
                  </a:solidFill>
                </a:rPr>
                <a:t>smarter</a:t>
              </a:r>
              <a:r>
                <a:rPr lang="en-IN" sz="2000" dirty="0">
                  <a:solidFill>
                    <a:schemeClr val="tx1"/>
                  </a:solidFill>
                </a:rPr>
                <a:t>, </a:t>
              </a:r>
              <a:r>
                <a:rPr lang="en-IN" sz="2000" dirty="0">
                  <a:solidFill>
                    <a:srgbClr val="B32380"/>
                  </a:solidFill>
                </a:rPr>
                <a:t>faster</a:t>
              </a:r>
              <a:r>
                <a:rPr lang="en-IN" sz="2000" dirty="0">
                  <a:solidFill>
                    <a:schemeClr val="tx1"/>
                  </a:solidFill>
                </a:rPr>
                <a:t>, and </a:t>
              </a:r>
              <a:r>
                <a:rPr lang="en-IN" sz="2000" dirty="0">
                  <a:solidFill>
                    <a:srgbClr val="B32380"/>
                  </a:solidFill>
                </a:rPr>
                <a:t>strategic decisions</a:t>
              </a:r>
              <a:r>
                <a:rPr lang="en-IN" sz="2000" dirty="0">
                  <a:solidFill>
                    <a:schemeClr val="tx1"/>
                  </a:solidFill>
                </a:rPr>
                <a:t>.</a:t>
              </a:r>
            </a:p>
          </p:txBody>
        </p:sp>
        <p:pic>
          <p:nvPicPr>
            <p:cNvPr id="46" name="Graphic 45" descr="Venn diagram with solid fill">
              <a:extLst>
                <a:ext uri="{FF2B5EF4-FFF2-40B4-BE49-F238E27FC236}">
                  <a16:creationId xmlns:a16="http://schemas.microsoft.com/office/drawing/2014/main" id="{5F041584-6DC8-8237-A2E7-855D38425C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290417" y="6781929"/>
              <a:ext cx="782267" cy="782267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DF6DEA3-4116-48CC-2E9B-C0090E6FF428}"/>
              </a:ext>
            </a:extLst>
          </p:cNvPr>
          <p:cNvGrpSpPr/>
          <p:nvPr/>
        </p:nvGrpSpPr>
        <p:grpSpPr>
          <a:xfrm>
            <a:off x="8543180" y="1501783"/>
            <a:ext cx="4672718" cy="4874918"/>
            <a:chOff x="8543180" y="1677341"/>
            <a:chExt cx="4672718" cy="487491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AF9517-5428-69E6-7834-76B76D43EAF0}"/>
                </a:ext>
              </a:extLst>
            </p:cNvPr>
            <p:cNvSpPr txBox="1"/>
            <p:nvPr/>
          </p:nvSpPr>
          <p:spPr>
            <a:xfrm>
              <a:off x="8543180" y="1677341"/>
              <a:ext cx="385983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500" b="1" dirty="0">
                  <a:solidFill>
                    <a:srgbClr val="FF5388"/>
                  </a:solidFill>
                </a:rPr>
                <a:t>Expected Business Benefits: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1A507B4-DEF8-3179-867B-8C025122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t="11848" r="85676"/>
            <a:stretch>
              <a:fillRect/>
            </a:stretch>
          </p:blipFill>
          <p:spPr>
            <a:xfrm>
              <a:off x="8543180" y="2223769"/>
              <a:ext cx="586481" cy="432849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483DA8D-4587-4E6E-75C7-4164BF32EAAD}"/>
                </a:ext>
              </a:extLst>
            </p:cNvPr>
            <p:cNvSpPr txBox="1"/>
            <p:nvPr/>
          </p:nvSpPr>
          <p:spPr>
            <a:xfrm>
              <a:off x="9123123" y="2170538"/>
              <a:ext cx="4092775" cy="4315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Better workforce visibility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Faster HR analysis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Improved retention planning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Compensation insights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Workforce planning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Employee engagement analysis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Al-assisted decision support</a:t>
              </a:r>
              <a:endParaRPr lang="en-IN" sz="2000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77265-0B9C-5955-539F-B7DDCC3A97F5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473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3" grpId="0" animBg="1"/>
      <p:bldP spid="31" grpId="0" animBg="1"/>
      <p:bldP spid="28" grpId="0" animBg="1"/>
      <p:bldP spid="15" grpId="0" animBg="1"/>
      <p:bldP spid="18" grpId="0" animBg="1"/>
      <p:bldP spid="24" grpId="0" animBg="1"/>
      <p:bldP spid="2" grpId="0" animBg="1"/>
      <p:bldP spid="35" grpId="0"/>
      <p:bldP spid="37" grpId="0"/>
      <p:bldP spid="39" grpId="0"/>
      <p:bldP spid="41" grpId="0"/>
      <p:bldP spid="43" grpId="0"/>
      <p:bldP spid="45" grpId="0"/>
      <p:bldP spid="47" grpId="0"/>
      <p:bldP spid="49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37B8-B2EB-B4DF-A640-DA03D378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D399BC-9847-D3BE-1CBD-D8EF7B7F25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"/>
          <a:stretch>
            <a:fillRect/>
          </a:stretch>
        </p:blipFill>
        <p:spPr>
          <a:xfrm>
            <a:off x="0" y="7513404"/>
            <a:ext cx="14630400" cy="726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A2C6CF-ED07-F191-C773-C7D065FC4B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21" t="20" b="82601"/>
          <a:stretch>
            <a:fillRect/>
          </a:stretch>
        </p:blipFill>
        <p:spPr>
          <a:xfrm>
            <a:off x="12649199" y="0"/>
            <a:ext cx="1981201" cy="1319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8599C1-76CE-6F79-80AC-0AA2F70F8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6D524E-FEAF-1DE8-7990-332CB6E47ABB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5/11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E727D-4986-BE5A-AD42-18029BFB02A3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565D74-5EF0-14FB-412E-A79F03A1921F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Complete Platform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617603-980F-71B3-DBD9-2C06EC964EDC}"/>
              </a:ext>
            </a:extLst>
          </p:cNvPr>
          <p:cNvSpPr txBox="1"/>
          <p:nvPr/>
        </p:nvSpPr>
        <p:spPr>
          <a:xfrm>
            <a:off x="2968906" y="716196"/>
            <a:ext cx="869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Building an Intelligent Workforce Insights Platform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1CDFEF-5505-AA79-0D01-FA08C31F1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1415" y="1136816"/>
            <a:ext cx="7962168" cy="661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31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BFFC-CB72-8722-8296-F0A73669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20BDF8F-D64D-24B9-FE7B-2B0BF03F6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75171" y="6510634"/>
            <a:ext cx="4226838" cy="114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390696" y="11791671"/>
            <a:ext cx="644854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423428" y="4846606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423428" y="53533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423428" y="5839468"/>
            <a:ext cx="644866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D46B5FB-7D52-BF63-8A67-40C3528BC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D358CE1-25C6-A47C-943B-91D820984F96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6/11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0608ED-AB44-65D7-5DA7-E167A1FD5CBE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3AFF8A-E793-313D-45DE-D48CBAE1A2D2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Data Cleaning &amp; Preprocessing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5C8BFD-87BE-E4FE-D687-680AC26B6E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CC1BD7A-33D2-3DCD-ED1E-705013915B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875526"/>
            <a:ext cx="485843" cy="84784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648920A-43E0-4ABE-783F-F4DCC3D0B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0A31DC6-BBDF-03C9-CCE6-827875690E77}"/>
              </a:ext>
            </a:extLst>
          </p:cNvPr>
          <p:cNvGrpSpPr/>
          <p:nvPr/>
        </p:nvGrpSpPr>
        <p:grpSpPr>
          <a:xfrm>
            <a:off x="634794" y="2100684"/>
            <a:ext cx="4493803" cy="2126183"/>
            <a:chOff x="480285" y="1498190"/>
            <a:chExt cx="4493803" cy="2126183"/>
          </a:xfrm>
        </p:grpSpPr>
        <p:sp>
          <p:nvSpPr>
            <p:cNvPr id="3" name="Text 1"/>
            <p:cNvSpPr/>
            <p:nvPr/>
          </p:nvSpPr>
          <p:spPr>
            <a:xfrm>
              <a:off x="747250" y="1498190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01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4" name="Shape 2"/>
            <p:cNvSpPr/>
            <p:nvPr/>
          </p:nvSpPr>
          <p:spPr>
            <a:xfrm>
              <a:off x="747250" y="1835732"/>
              <a:ext cx="4226838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712147" y="1907920"/>
              <a:ext cx="4000262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en-IN" sz="2400" dirty="0"/>
                <a:t>Data Inspection 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AAD686F-5CA6-EB1D-9EEC-111509073F3C}"/>
                </a:ext>
              </a:extLst>
            </p:cNvPr>
            <p:cNvSpPr txBox="1"/>
            <p:nvPr/>
          </p:nvSpPr>
          <p:spPr>
            <a:xfrm>
              <a:off x="480285" y="2300934"/>
              <a:ext cx="427722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Checked data structure, types, and distributions.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Identified missing values, duplicates, and outliers.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E474AE-1266-89EA-DD68-AC5AB589A73B}"/>
              </a:ext>
            </a:extLst>
          </p:cNvPr>
          <p:cNvGrpSpPr/>
          <p:nvPr/>
        </p:nvGrpSpPr>
        <p:grpSpPr>
          <a:xfrm>
            <a:off x="9572010" y="2064799"/>
            <a:ext cx="4443531" cy="2188824"/>
            <a:chOff x="9417501" y="1498190"/>
            <a:chExt cx="4443531" cy="2188824"/>
          </a:xfrm>
        </p:grpSpPr>
        <p:sp>
          <p:nvSpPr>
            <p:cNvPr id="15" name="Text 9"/>
            <p:cNvSpPr/>
            <p:nvPr/>
          </p:nvSpPr>
          <p:spPr>
            <a:xfrm>
              <a:off x="9634075" y="1498190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03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16" name="Shape 10"/>
            <p:cNvSpPr/>
            <p:nvPr/>
          </p:nvSpPr>
          <p:spPr>
            <a:xfrm>
              <a:off x="9634075" y="1835732"/>
              <a:ext cx="4226957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17" name="Text 11"/>
            <p:cNvSpPr/>
            <p:nvPr/>
          </p:nvSpPr>
          <p:spPr>
            <a:xfrm>
              <a:off x="9634075" y="1910487"/>
              <a:ext cx="3848933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IN" sz="2400" dirty="0"/>
                <a:t>Data Transformation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37A7D48-F631-8229-FADD-7ECC9C4F5375}"/>
                </a:ext>
              </a:extLst>
            </p:cNvPr>
            <p:cNvSpPr txBox="1"/>
            <p:nvPr/>
          </p:nvSpPr>
          <p:spPr>
            <a:xfrm>
              <a:off x="9417501" y="2363575"/>
              <a:ext cx="422683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Encoded categorical and normalized numerical data.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Prepared features for analysis and </a:t>
              </a:r>
              <a:r>
                <a:rPr lang="en-IN" sz="2000" dirty="0" err="1"/>
                <a:t>modeling</a:t>
              </a:r>
              <a:r>
                <a:rPr lang="en-IN" sz="2000" dirty="0"/>
                <a:t>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66DEB1-88B4-39AC-57FD-BA84838DFC49}"/>
              </a:ext>
            </a:extLst>
          </p:cNvPr>
          <p:cNvGrpSpPr/>
          <p:nvPr/>
        </p:nvGrpSpPr>
        <p:grpSpPr>
          <a:xfrm>
            <a:off x="5128597" y="2064799"/>
            <a:ext cx="4443413" cy="2152403"/>
            <a:chOff x="4974088" y="1498190"/>
            <a:chExt cx="4443413" cy="2152403"/>
          </a:xfrm>
        </p:grpSpPr>
        <p:sp>
          <p:nvSpPr>
            <p:cNvPr id="7" name="Text 5"/>
            <p:cNvSpPr/>
            <p:nvPr/>
          </p:nvSpPr>
          <p:spPr>
            <a:xfrm>
              <a:off x="5190663" y="1498190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02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190663" y="1835732"/>
              <a:ext cx="4226838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11" name="Text 7"/>
            <p:cNvSpPr/>
            <p:nvPr/>
          </p:nvSpPr>
          <p:spPr>
            <a:xfrm>
              <a:off x="5190663" y="1910487"/>
              <a:ext cx="4065507" cy="3495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IN" sz="2400" dirty="0">
                  <a:latin typeface="Aptos" panose="020B0004020202020204" pitchFamily="34" charset="0"/>
                </a:rPr>
                <a:t>Data Standardization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8DD9B2F-6B06-1836-3E8F-4FD7A4F9CB21}"/>
                </a:ext>
              </a:extLst>
            </p:cNvPr>
            <p:cNvSpPr txBox="1"/>
            <p:nvPr/>
          </p:nvSpPr>
          <p:spPr>
            <a:xfrm>
              <a:off x="4974088" y="2327154"/>
              <a:ext cx="422683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Standardized formats, labels, and categorical values.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Unified naming conventions and data formats.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1FBFD22-92ED-2F03-2DCE-113422DB78CD}"/>
              </a:ext>
            </a:extLst>
          </p:cNvPr>
          <p:cNvGrpSpPr/>
          <p:nvPr/>
        </p:nvGrpSpPr>
        <p:grpSpPr>
          <a:xfrm>
            <a:off x="634794" y="4599596"/>
            <a:ext cx="6680406" cy="2186404"/>
            <a:chOff x="526447" y="4846606"/>
            <a:chExt cx="6680406" cy="2186404"/>
          </a:xfrm>
        </p:grpSpPr>
        <p:sp>
          <p:nvSpPr>
            <p:cNvPr id="19" name="Text 13"/>
            <p:cNvSpPr/>
            <p:nvPr/>
          </p:nvSpPr>
          <p:spPr>
            <a:xfrm>
              <a:off x="758309" y="4846606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04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20" name="Shape 14"/>
            <p:cNvSpPr/>
            <p:nvPr/>
          </p:nvSpPr>
          <p:spPr>
            <a:xfrm>
              <a:off x="758309" y="5184148"/>
              <a:ext cx="6448544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21" name="Text 15"/>
            <p:cNvSpPr/>
            <p:nvPr/>
          </p:nvSpPr>
          <p:spPr>
            <a:xfrm>
              <a:off x="758309" y="5353336"/>
              <a:ext cx="4226838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Validation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>
                <a:lnSpc>
                  <a:spcPts val="2800"/>
                </a:lnSpc>
              </a:pP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147897-8179-63D8-6C34-4C585342B865}"/>
                </a:ext>
              </a:extLst>
            </p:cNvPr>
            <p:cNvSpPr txBox="1"/>
            <p:nvPr/>
          </p:nvSpPr>
          <p:spPr>
            <a:xfrm>
              <a:off x="526447" y="5709571"/>
              <a:ext cx="606303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Validated data accuracy, consistency, and integrity.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Confirmed the dataset was analysis-ready.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Cross-checked with source systems and applied validation rules.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A31A6D8-D0E9-D9E7-2D90-7F82956D92D4}"/>
              </a:ext>
            </a:extLst>
          </p:cNvPr>
          <p:cNvGrpSpPr/>
          <p:nvPr/>
        </p:nvGrpSpPr>
        <p:grpSpPr>
          <a:xfrm>
            <a:off x="7423488" y="4569537"/>
            <a:ext cx="6556950" cy="2199650"/>
            <a:chOff x="7315141" y="4816547"/>
            <a:chExt cx="6556950" cy="2199650"/>
          </a:xfrm>
        </p:grpSpPr>
        <p:sp>
          <p:nvSpPr>
            <p:cNvPr id="24" name="Shape 18"/>
            <p:cNvSpPr/>
            <p:nvPr/>
          </p:nvSpPr>
          <p:spPr>
            <a:xfrm>
              <a:off x="7423428" y="5184148"/>
              <a:ext cx="6448663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FB2EFA2E-7924-F577-DF78-BF2C3D77873A}"/>
                </a:ext>
              </a:extLst>
            </p:cNvPr>
            <p:cNvSpPr/>
            <p:nvPr/>
          </p:nvSpPr>
          <p:spPr>
            <a:xfrm>
              <a:off x="7557288" y="4816547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05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33" name="Text 15">
              <a:extLst>
                <a:ext uri="{FF2B5EF4-FFF2-40B4-BE49-F238E27FC236}">
                  <a16:creationId xmlns:a16="http://schemas.microsoft.com/office/drawing/2014/main" id="{A9B7DF09-9519-48A8-606C-99A5CDBCFE92}"/>
                </a:ext>
              </a:extLst>
            </p:cNvPr>
            <p:cNvSpPr/>
            <p:nvPr/>
          </p:nvSpPr>
          <p:spPr>
            <a:xfrm>
              <a:off x="7557288" y="5323277"/>
              <a:ext cx="3550801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IN" sz="2400" dirty="0">
                  <a:latin typeface="Aptos" panose="020B0004020202020204" pitchFamily="34" charset="0"/>
                </a:rPr>
                <a:t>Clean Data Output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F7BD8CA-B1C2-2602-30BA-01FD70EAB7FC}"/>
                </a:ext>
              </a:extLst>
            </p:cNvPr>
            <p:cNvSpPr txBox="1"/>
            <p:nvPr/>
          </p:nvSpPr>
          <p:spPr>
            <a:xfrm>
              <a:off x="7315141" y="5692758"/>
              <a:ext cx="632919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Generated clean, structured, reliable data.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Prepared data for Power BI and AI/RAG analysis.</a:t>
              </a:r>
              <a:endParaRPr lang="en-US" sz="20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Optimized for performance, faster retrieval, and accurate insights.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257418C-154B-706C-1E1F-FC9521341DB7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BA859D-8E96-21FF-7552-F88F6EEE6302}"/>
              </a:ext>
            </a:extLst>
          </p:cNvPr>
          <p:cNvSpPr txBox="1"/>
          <p:nvPr/>
        </p:nvSpPr>
        <p:spPr>
          <a:xfrm>
            <a:off x="2675552" y="1002291"/>
            <a:ext cx="9009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Clean Data → Reliable Analysis → Better Workforce Insights</a:t>
            </a:r>
          </a:p>
        </p:txBody>
      </p:sp>
    </p:spTree>
    <p:extLst>
      <p:ext uri="{BB962C8B-B14F-4D97-AF65-F5344CB8AC3E}">
        <p14:creationId xmlns:p14="http://schemas.microsoft.com/office/powerpoint/2010/main" val="3293974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6386E-1C99-D950-019C-3D3F0D11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76C195E-F66F-E743-A622-74F6C5D54833}"/>
              </a:ext>
            </a:extLst>
          </p:cNvPr>
          <p:cNvGrpSpPr/>
          <p:nvPr/>
        </p:nvGrpSpPr>
        <p:grpSpPr>
          <a:xfrm>
            <a:off x="4243402" y="1437079"/>
            <a:ext cx="5729375" cy="5600762"/>
            <a:chOff x="4243402" y="1437079"/>
            <a:chExt cx="5729375" cy="5600762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B053FF71-CF67-8FB3-C684-F82D7C9F1F51}"/>
                </a:ext>
              </a:extLst>
            </p:cNvPr>
            <p:cNvGrpSpPr/>
            <p:nvPr/>
          </p:nvGrpSpPr>
          <p:grpSpPr>
            <a:xfrm rot="10800000" flipH="1" flipV="1">
              <a:off x="6781547" y="1437079"/>
              <a:ext cx="1700747" cy="1937419"/>
              <a:chOff x="7347894" y="370503"/>
              <a:chExt cx="1700747" cy="1937419"/>
            </a:xfrm>
          </p:grpSpPr>
          <p:sp>
            <p:nvSpPr>
              <p:cNvPr id="186" name="Freeform: Shape 40">
                <a:extLst>
                  <a:ext uri="{FF2B5EF4-FFF2-40B4-BE49-F238E27FC236}">
                    <a16:creationId xmlns:a16="http://schemas.microsoft.com/office/drawing/2014/main" id="{82FCC12E-00B5-F190-30D5-B8F11657FF8D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87" name="Picture 186">
                <a:extLst>
                  <a:ext uri="{FF2B5EF4-FFF2-40B4-BE49-F238E27FC236}">
                    <a16:creationId xmlns:a16="http://schemas.microsoft.com/office/drawing/2014/main" id="{3A761296-C7B7-E59B-7ECF-C40A91DB1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D33D64F1-A86B-BFA0-CE2C-6E19C0F901BD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189" name="Graphic 188" descr="Bar chart with solid fill">
                <a:extLst>
                  <a:ext uri="{FF2B5EF4-FFF2-40B4-BE49-F238E27FC236}">
                    <a16:creationId xmlns:a16="http://schemas.microsoft.com/office/drawing/2014/main" id="{C0FCF97C-1355-7CD5-5AD7-5F7B65B369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314386" y="1106145"/>
                <a:ext cx="449637" cy="449637"/>
              </a:xfrm>
              <a:prstGeom prst="rect">
                <a:avLst/>
              </a:prstGeom>
            </p:spPr>
          </p:pic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16F104E-B466-A4CB-4980-54C5F62ACD25}"/>
                </a:ext>
              </a:extLst>
            </p:cNvPr>
            <p:cNvGrpSpPr/>
            <p:nvPr/>
          </p:nvGrpSpPr>
          <p:grpSpPr>
            <a:xfrm rot="18095246">
              <a:off x="4999055" y="1760141"/>
              <a:ext cx="1700748" cy="1937419"/>
              <a:chOff x="7347893" y="370503"/>
              <a:chExt cx="1700748" cy="1937419"/>
            </a:xfrm>
          </p:grpSpPr>
          <p:sp>
            <p:nvSpPr>
              <p:cNvPr id="196" name="Freeform: Shape 40">
                <a:extLst>
                  <a:ext uri="{FF2B5EF4-FFF2-40B4-BE49-F238E27FC236}">
                    <a16:creationId xmlns:a16="http://schemas.microsoft.com/office/drawing/2014/main" id="{5F1CE5EE-2434-A66D-11A7-E32D4709A8D1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97" name="Picture 196">
                <a:extLst>
                  <a:ext uri="{FF2B5EF4-FFF2-40B4-BE49-F238E27FC236}">
                    <a16:creationId xmlns:a16="http://schemas.microsoft.com/office/drawing/2014/main" id="{A9347E18-939D-FFF7-A0EF-551FF7EB87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3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9A9F3166-E407-A013-0838-077A9F430E90}"/>
                  </a:ext>
                </a:extLst>
              </p:cNvPr>
              <p:cNvSpPr/>
              <p:nvPr/>
            </p:nvSpPr>
            <p:spPr>
              <a:xfrm rot="6116659">
                <a:off x="6906172" y="866113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740D83BB-9F75-8D8F-8AD9-11C401F1CC35}"/>
                </a:ext>
              </a:extLst>
            </p:cNvPr>
            <p:cNvGrpSpPr/>
            <p:nvPr/>
          </p:nvGrpSpPr>
          <p:grpSpPr>
            <a:xfrm rot="14350618">
              <a:off x="4361738" y="3584857"/>
              <a:ext cx="1700747" cy="1937419"/>
              <a:chOff x="7347894" y="370503"/>
              <a:chExt cx="1700747" cy="1937419"/>
            </a:xfrm>
          </p:grpSpPr>
          <p:sp>
            <p:nvSpPr>
              <p:cNvPr id="134" name="Freeform: Shape 40">
                <a:extLst>
                  <a:ext uri="{FF2B5EF4-FFF2-40B4-BE49-F238E27FC236}">
                    <a16:creationId xmlns:a16="http://schemas.microsoft.com/office/drawing/2014/main" id="{499AE9C1-9015-EBD9-4792-F94FED813719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13154AA4-65B1-098D-FD59-626A4D4F00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F6D4FFE-9A92-7C37-15FF-CE7AD9D8FA52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C7E57EB4-BBB4-9EFA-3F8D-C15288188D2A}"/>
                </a:ext>
              </a:extLst>
            </p:cNvPr>
            <p:cNvGrpSpPr/>
            <p:nvPr/>
          </p:nvGrpSpPr>
          <p:grpSpPr>
            <a:xfrm rot="21322187" flipH="1" flipV="1">
              <a:off x="5667587" y="5100422"/>
              <a:ext cx="1700747" cy="1937419"/>
              <a:chOff x="7347894" y="370503"/>
              <a:chExt cx="1700747" cy="1937419"/>
            </a:xfrm>
          </p:grpSpPr>
          <p:sp>
            <p:nvSpPr>
              <p:cNvPr id="129" name="Freeform: Shape 40">
                <a:extLst>
                  <a:ext uri="{FF2B5EF4-FFF2-40B4-BE49-F238E27FC236}">
                    <a16:creationId xmlns:a16="http://schemas.microsoft.com/office/drawing/2014/main" id="{A7178F76-7F8A-BCCF-333D-ABC361910375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5E3848AE-C192-FAAC-5A1E-81849FA5A9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2C4DF31B-FD54-3B54-E0FA-B169BAA40AF6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A54976BE-5C5A-078B-D500-71FBA8A98122}"/>
                </a:ext>
              </a:extLst>
            </p:cNvPr>
            <p:cNvGrpSpPr/>
            <p:nvPr/>
          </p:nvGrpSpPr>
          <p:grpSpPr>
            <a:xfrm rot="7160396">
              <a:off x="7448922" y="4700370"/>
              <a:ext cx="1700747" cy="1937419"/>
              <a:chOff x="7347894" y="370503"/>
              <a:chExt cx="1700747" cy="1937419"/>
            </a:xfrm>
          </p:grpSpPr>
          <p:sp>
            <p:nvSpPr>
              <p:cNvPr id="168" name="Freeform: Shape 40">
                <a:extLst>
                  <a:ext uri="{FF2B5EF4-FFF2-40B4-BE49-F238E27FC236}">
                    <a16:creationId xmlns:a16="http://schemas.microsoft.com/office/drawing/2014/main" id="{7BD7C908-73E4-25CE-3D9F-5BF5A61247B6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5A3BCCAD-2564-4BC3-D4CA-85B38C67D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241A64CE-888A-45EE-48A3-EF3082A2BBF6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6F4FCF1E-CAD1-4E3C-2939-F7DF285148D5}"/>
                </a:ext>
              </a:extLst>
            </p:cNvPr>
            <p:cNvGrpSpPr/>
            <p:nvPr/>
          </p:nvGrpSpPr>
          <p:grpSpPr>
            <a:xfrm rot="3739211">
              <a:off x="8153694" y="2915902"/>
              <a:ext cx="1700747" cy="1937419"/>
              <a:chOff x="7347894" y="370503"/>
              <a:chExt cx="1700747" cy="1937419"/>
            </a:xfrm>
          </p:grpSpPr>
          <p:sp>
            <p:nvSpPr>
              <p:cNvPr id="191" name="Freeform: Shape 40">
                <a:extLst>
                  <a:ext uri="{FF2B5EF4-FFF2-40B4-BE49-F238E27FC236}">
                    <a16:creationId xmlns:a16="http://schemas.microsoft.com/office/drawing/2014/main" id="{F046DB45-F3A1-041E-6111-42155B5AEABA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92" name="Picture 191">
                <a:extLst>
                  <a:ext uri="{FF2B5EF4-FFF2-40B4-BE49-F238E27FC236}">
                    <a16:creationId xmlns:a16="http://schemas.microsoft.com/office/drawing/2014/main" id="{0731B987-EC78-2985-99D0-FCF45FA9DC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6FD19327-C5B4-F6C5-2621-36E30BD1D949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B7296DF-741D-3952-7AEB-0EF7F0551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692582-D7A2-E9D8-5656-2578B9CA5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AA06EA-082B-06BF-B040-AA064307A906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7/11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413FA-4906-7AA0-BC94-3353071A7A98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BACC7-F807-3AC5-CA7D-6B1F39429B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4821" t="20" b="82601"/>
          <a:stretch>
            <a:fillRect/>
          </a:stretch>
        </p:blipFill>
        <p:spPr>
          <a:xfrm>
            <a:off x="14130596" y="-4525"/>
            <a:ext cx="492029" cy="3170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1DADC1-05DF-4868-078C-5BA0410FB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49C376BC-852D-3A28-6984-DB002DAD495B}"/>
              </a:ext>
            </a:extLst>
          </p:cNvPr>
          <p:cNvSpPr/>
          <p:nvPr/>
        </p:nvSpPr>
        <p:spPr>
          <a:xfrm rot="14400000">
            <a:off x="4286680" y="1439561"/>
            <a:ext cx="6363651" cy="654751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2A77725-DB4D-1ED8-1791-99E575F158BE}"/>
              </a:ext>
            </a:extLst>
          </p:cNvPr>
          <p:cNvGrpSpPr/>
          <p:nvPr/>
        </p:nvGrpSpPr>
        <p:grpSpPr>
          <a:xfrm>
            <a:off x="1279728" y="1303622"/>
            <a:ext cx="3707228" cy="5809053"/>
            <a:chOff x="1279728" y="1303622"/>
            <a:chExt cx="3707228" cy="5809053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307E915-BAD1-34D5-0B4C-5EFF7341B6CB}"/>
                </a:ext>
              </a:extLst>
            </p:cNvPr>
            <p:cNvSpPr txBox="1"/>
            <p:nvPr/>
          </p:nvSpPr>
          <p:spPr>
            <a:xfrm>
              <a:off x="1322168" y="5881569"/>
              <a:ext cx="3664788" cy="12311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2000" b="1" dirty="0"/>
                <a:t>Model Development</a:t>
              </a:r>
              <a:br>
                <a:rPr lang="en-IN" sz="2000" b="1" dirty="0"/>
              </a:br>
              <a:r>
                <a:rPr lang="en-IN" dirty="0"/>
                <a:t>Build the ML model &amp; train using the prepared workforce data</a:t>
              </a:r>
            </a:p>
            <a:p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AAA5D0A-736C-57EB-37E0-BA14BE97F184}"/>
                </a:ext>
              </a:extLst>
            </p:cNvPr>
            <p:cNvSpPr txBox="1"/>
            <p:nvPr/>
          </p:nvSpPr>
          <p:spPr>
            <a:xfrm>
              <a:off x="1279728" y="3274815"/>
              <a:ext cx="2696114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2000" b="1" dirty="0"/>
                <a:t>Model Evaluation</a:t>
              </a:r>
              <a:br>
                <a:rPr lang="en-IN" sz="2000" b="1" dirty="0"/>
              </a:br>
              <a:r>
                <a:rPr lang="en-IN" sz="2000" dirty="0"/>
                <a:t>Test on unseen records &amp; measure model performance and reliability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FB68C9E-E5FD-C984-9B92-49EA72969BB6}"/>
                </a:ext>
              </a:extLst>
            </p:cNvPr>
            <p:cNvSpPr txBox="1"/>
            <p:nvPr/>
          </p:nvSpPr>
          <p:spPr>
            <a:xfrm>
              <a:off x="1919162" y="1303622"/>
              <a:ext cx="3012609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2000" b="1" dirty="0"/>
                <a:t>Prediction &amp; Insights</a:t>
              </a:r>
              <a:br>
                <a:rPr lang="en-IN" sz="2000" b="1" dirty="0"/>
              </a:br>
              <a:r>
                <a:rPr lang="en-IN" sz="2000" dirty="0"/>
                <a:t>Generate predictions &amp; use results for workforce/HR analysis and decision-making</a:t>
              </a: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49B0037-2028-07F5-BE64-D89780BC2B3C}"/>
              </a:ext>
            </a:extLst>
          </p:cNvPr>
          <p:cNvGrpSpPr/>
          <p:nvPr/>
        </p:nvGrpSpPr>
        <p:grpSpPr>
          <a:xfrm>
            <a:off x="3869543" y="1246410"/>
            <a:ext cx="6911302" cy="5843544"/>
            <a:chOff x="3869543" y="1246410"/>
            <a:chExt cx="6911302" cy="5843544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BCE2068-FE1E-BBD8-15B0-619F11796674}"/>
                </a:ext>
              </a:extLst>
            </p:cNvPr>
            <p:cNvSpPr txBox="1"/>
            <p:nvPr/>
          </p:nvSpPr>
          <p:spPr>
            <a:xfrm>
              <a:off x="5015125" y="6228180"/>
              <a:ext cx="834279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000" b="1" dirty="0"/>
                <a:t>4.</a:t>
              </a:r>
              <a:endParaRPr lang="en-IN" sz="50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FA18217-49EF-7928-44BB-7040B811DEB5}"/>
                </a:ext>
              </a:extLst>
            </p:cNvPr>
            <p:cNvSpPr txBox="1"/>
            <p:nvPr/>
          </p:nvSpPr>
          <p:spPr>
            <a:xfrm>
              <a:off x="3869543" y="3611778"/>
              <a:ext cx="757827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5.</a:t>
              </a:r>
              <a:endParaRPr lang="en-IN" sz="50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2D410C9-1BC4-2171-4105-743BD365B435}"/>
                </a:ext>
              </a:extLst>
            </p:cNvPr>
            <p:cNvSpPr txBox="1"/>
            <p:nvPr/>
          </p:nvSpPr>
          <p:spPr>
            <a:xfrm>
              <a:off x="5080639" y="1321952"/>
              <a:ext cx="1058649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6. </a:t>
              </a:r>
              <a:endParaRPr lang="en-IN" sz="50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4B2CD25-C090-F4CE-CBF5-7DD5FBEDC949}"/>
                </a:ext>
              </a:extLst>
            </p:cNvPr>
            <p:cNvSpPr txBox="1"/>
            <p:nvPr/>
          </p:nvSpPr>
          <p:spPr>
            <a:xfrm>
              <a:off x="8527511" y="1246410"/>
              <a:ext cx="1058648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1.</a:t>
              </a:r>
              <a:endParaRPr lang="en-IN" sz="50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404E963-5700-AD51-696D-4A50CB6EDAD4}"/>
                </a:ext>
              </a:extLst>
            </p:cNvPr>
            <p:cNvSpPr txBox="1"/>
            <p:nvPr/>
          </p:nvSpPr>
          <p:spPr>
            <a:xfrm>
              <a:off x="9862894" y="3611778"/>
              <a:ext cx="917951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2.</a:t>
              </a:r>
              <a:endParaRPr lang="en-IN" sz="500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50C67C5-364E-02FF-8C4F-06C76E1974CA}"/>
                </a:ext>
              </a:extLst>
            </p:cNvPr>
            <p:cNvSpPr txBox="1"/>
            <p:nvPr/>
          </p:nvSpPr>
          <p:spPr>
            <a:xfrm>
              <a:off x="8855496" y="6157909"/>
              <a:ext cx="911943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3.</a:t>
              </a:r>
              <a:endParaRPr lang="en-IN" sz="5000" dirty="0"/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601A256-BA81-14EF-FD21-3F7DC9893CB9}"/>
              </a:ext>
            </a:extLst>
          </p:cNvPr>
          <p:cNvGrpSpPr/>
          <p:nvPr/>
        </p:nvGrpSpPr>
        <p:grpSpPr>
          <a:xfrm>
            <a:off x="9401720" y="1376625"/>
            <a:ext cx="4111158" cy="5378860"/>
            <a:chOff x="9401720" y="1376625"/>
            <a:chExt cx="4111158" cy="5378860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2F2A700-82A5-942C-47BC-21A73F6BA0B0}"/>
                </a:ext>
              </a:extLst>
            </p:cNvPr>
            <p:cNvSpPr txBox="1"/>
            <p:nvPr/>
          </p:nvSpPr>
          <p:spPr>
            <a:xfrm>
              <a:off x="9401720" y="1376625"/>
              <a:ext cx="394187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Data Preparation</a:t>
              </a:r>
            </a:p>
            <a:p>
              <a:r>
                <a:rPr lang="en-IN" sz="2000" dirty="0"/>
                <a:t>Collect the cleaned dataset &amp; Check data quality and required fields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350C7C7-5DEE-5C17-88ED-BF094EAE4756}"/>
                </a:ext>
              </a:extLst>
            </p:cNvPr>
            <p:cNvSpPr txBox="1"/>
            <p:nvPr/>
          </p:nvSpPr>
          <p:spPr>
            <a:xfrm>
              <a:off x="10767387" y="3611778"/>
              <a:ext cx="2745491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Feature Selection</a:t>
              </a:r>
              <a:br>
                <a:rPr lang="en-IN" sz="2000" dirty="0"/>
              </a:br>
              <a:r>
                <a:rPr lang="en-IN" sz="2000" dirty="0"/>
                <a:t>Select important employee attributes.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528F292-96D8-F6AE-FDAA-3C552FC2A746}"/>
                </a:ext>
              </a:extLst>
            </p:cNvPr>
            <p:cNvSpPr txBox="1"/>
            <p:nvPr/>
          </p:nvSpPr>
          <p:spPr>
            <a:xfrm>
              <a:off x="10159284" y="5739822"/>
              <a:ext cx="3152801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2000" b="1" dirty="0"/>
                <a:t>Data Preprocessing</a:t>
              </a:r>
              <a:br>
                <a:rPr lang="en-IN" sz="2000" dirty="0"/>
              </a:br>
              <a:r>
                <a:rPr lang="en-IN" sz="2000" dirty="0"/>
                <a:t>Encode categorical values  &amp; Prepare data for analysis.</a:t>
              </a:r>
            </a:p>
          </p:txBody>
        </p:sp>
      </p:grpSp>
      <p:pic>
        <p:nvPicPr>
          <p:cNvPr id="102" name="Graphic 101" descr="Database with solid fill">
            <a:extLst>
              <a:ext uri="{FF2B5EF4-FFF2-40B4-BE49-F238E27FC236}">
                <a16:creationId xmlns:a16="http://schemas.microsoft.com/office/drawing/2014/main" id="{7207E07C-A341-CC1F-2BDF-1E2EFF2BE6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2646" y="5871197"/>
            <a:ext cx="380448" cy="380448"/>
          </a:xfrm>
          <a:prstGeom prst="rect">
            <a:avLst/>
          </a:prstGeom>
        </p:spPr>
      </p:pic>
      <p:pic>
        <p:nvPicPr>
          <p:cNvPr id="104" name="Graphic 103" descr="Single gear with solid fill">
            <a:extLst>
              <a:ext uri="{FF2B5EF4-FFF2-40B4-BE49-F238E27FC236}">
                <a16:creationId xmlns:a16="http://schemas.microsoft.com/office/drawing/2014/main" id="{BB931375-5AEA-757E-F38D-FA0CB53C0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97211" y="3922567"/>
            <a:ext cx="452593" cy="452593"/>
          </a:xfrm>
          <a:prstGeom prst="rect">
            <a:avLst/>
          </a:prstGeom>
        </p:spPr>
      </p:pic>
      <p:pic>
        <p:nvPicPr>
          <p:cNvPr id="106" name="Graphic 105" descr="Statistics with solid fill">
            <a:extLst>
              <a:ext uri="{FF2B5EF4-FFF2-40B4-BE49-F238E27FC236}">
                <a16:creationId xmlns:a16="http://schemas.microsoft.com/office/drawing/2014/main" id="{4C0A92F8-AF59-EC55-267D-F87FD8F18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75640" y="2277148"/>
            <a:ext cx="517030" cy="382611"/>
          </a:xfrm>
          <a:prstGeom prst="rect">
            <a:avLst/>
          </a:prstGeom>
        </p:spPr>
      </p:pic>
      <p:pic>
        <p:nvPicPr>
          <p:cNvPr id="110" name="Graphic 109" descr="Bullseye with solid fill">
            <a:extLst>
              <a:ext uri="{FF2B5EF4-FFF2-40B4-BE49-F238E27FC236}">
                <a16:creationId xmlns:a16="http://schemas.microsoft.com/office/drawing/2014/main" id="{28BC2487-C082-635C-8757-2E20D342C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67822" y="5754736"/>
            <a:ext cx="461375" cy="461375"/>
          </a:xfrm>
          <a:prstGeom prst="rect">
            <a:avLst/>
          </a:prstGeom>
        </p:spPr>
      </p:pic>
      <p:pic>
        <p:nvPicPr>
          <p:cNvPr id="112" name="Graphic 111" descr="Document with solid fill">
            <a:extLst>
              <a:ext uri="{FF2B5EF4-FFF2-40B4-BE49-F238E27FC236}">
                <a16:creationId xmlns:a16="http://schemas.microsoft.com/office/drawing/2014/main" id="{309037B3-7DBA-7243-A72F-E971484CCE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66435" y="3993247"/>
            <a:ext cx="409082" cy="4090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5A8D94-4604-D2AB-7CE8-5EB17948792D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53C9982-9F83-503B-A9F2-3A709AC4839E}"/>
              </a:ext>
            </a:extLst>
          </p:cNvPr>
          <p:cNvSpPr txBox="1"/>
          <p:nvPr/>
        </p:nvSpPr>
        <p:spPr>
          <a:xfrm>
            <a:off x="2408950" y="148043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ML Model</a:t>
            </a:r>
          </a:p>
        </p:txBody>
      </p:sp>
    </p:spTree>
    <p:extLst>
      <p:ext uri="{BB962C8B-B14F-4D97-AF65-F5344CB8AC3E}">
        <p14:creationId xmlns:p14="http://schemas.microsoft.com/office/powerpoint/2010/main" val="2843893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8CF25-94D9-F661-B459-781B8D9B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2B6407B-4EEF-DBC0-DF42-F5C068E81B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21" t="20" b="82694"/>
          <a:stretch>
            <a:fillRect/>
          </a:stretch>
        </p:blipFill>
        <p:spPr>
          <a:xfrm>
            <a:off x="12403014" y="-12660"/>
            <a:ext cx="2219611" cy="14225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3435E4D-96CD-B873-CD11-DE3F44FC830E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RAG-Based AI Workforce Assistant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0DCF75-8C74-DFC3-5304-EC50FC17A447}"/>
              </a:ext>
            </a:extLst>
          </p:cNvPr>
          <p:cNvSpPr txBox="1"/>
          <p:nvPr/>
        </p:nvSpPr>
        <p:spPr>
          <a:xfrm>
            <a:off x="2968906" y="702449"/>
            <a:ext cx="869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Retrieval-Augmented Generation for Intelligent Workforce Insights</a:t>
            </a:r>
            <a:endParaRPr lang="en-IN" dirty="0"/>
          </a:p>
        </p:txBody>
      </p: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E6579C47-D910-87D7-0B13-03B78DF7019D}"/>
              </a:ext>
            </a:extLst>
          </p:cNvPr>
          <p:cNvCxnSpPr>
            <a:cxnSpLocks/>
            <a:stCxn id="51" idx="3"/>
            <a:endCxn id="59" idx="3"/>
          </p:cNvCxnSpPr>
          <p:nvPr/>
        </p:nvCxnSpPr>
        <p:spPr>
          <a:xfrm flipH="1">
            <a:off x="12983197" y="2532268"/>
            <a:ext cx="575461" cy="3059742"/>
          </a:xfrm>
          <a:prstGeom prst="bentConnector3">
            <a:avLst>
              <a:gd name="adj1" fmla="val -39725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49F70A1E-E4A5-3BE9-08A5-0B0ADC65C1DF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2883494" y="2532268"/>
            <a:ext cx="539118" cy="370171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0CA0AC2D-D993-FDCB-BE36-2D2070F05E78}"/>
              </a:ext>
            </a:extLst>
          </p:cNvPr>
          <p:cNvCxnSpPr>
            <a:cxnSpLocks/>
            <a:stCxn id="24" idx="3"/>
            <a:endCxn id="35" idx="1"/>
          </p:cNvCxnSpPr>
          <p:nvPr/>
        </p:nvCxnSpPr>
        <p:spPr>
          <a:xfrm flipV="1">
            <a:off x="5388727" y="2501760"/>
            <a:ext cx="549749" cy="400679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34C18D2A-C665-48D8-181C-F940E35CB77B}"/>
              </a:ext>
            </a:extLst>
          </p:cNvPr>
          <p:cNvCxnSpPr>
            <a:cxnSpLocks/>
            <a:stCxn id="35" idx="3"/>
            <a:endCxn id="43" idx="1"/>
          </p:cNvCxnSpPr>
          <p:nvPr/>
        </p:nvCxnSpPr>
        <p:spPr>
          <a:xfrm>
            <a:off x="7958828" y="2501760"/>
            <a:ext cx="528487" cy="392314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C5E273C3-D526-AF8D-156A-A1B56D56695F}"/>
              </a:ext>
            </a:extLst>
          </p:cNvPr>
          <p:cNvCxnSpPr>
            <a:cxnSpLocks/>
            <a:stCxn id="43" idx="3"/>
            <a:endCxn id="51" idx="1"/>
          </p:cNvCxnSpPr>
          <p:nvPr/>
        </p:nvCxnSpPr>
        <p:spPr>
          <a:xfrm flipV="1">
            <a:off x="10799930" y="2532268"/>
            <a:ext cx="539118" cy="361806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66ACF8D1-F1E5-F7EE-391A-DA5D68E43EC3}"/>
              </a:ext>
            </a:extLst>
          </p:cNvPr>
          <p:cNvCxnSpPr>
            <a:cxnSpLocks/>
            <a:stCxn id="75" idx="1"/>
            <a:endCxn id="67" idx="3"/>
          </p:cNvCxnSpPr>
          <p:nvPr/>
        </p:nvCxnSpPr>
        <p:spPr>
          <a:xfrm rot="10800000">
            <a:off x="2998673" y="5592010"/>
            <a:ext cx="526352" cy="586672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4A67EC7D-8551-69F8-B071-63B538D92AD9}"/>
              </a:ext>
            </a:extLst>
          </p:cNvPr>
          <p:cNvCxnSpPr>
            <a:cxnSpLocks/>
            <a:stCxn id="83" idx="1"/>
            <a:endCxn id="75" idx="3"/>
          </p:cNvCxnSpPr>
          <p:nvPr/>
        </p:nvCxnSpPr>
        <p:spPr>
          <a:xfrm rot="10800000" flipV="1">
            <a:off x="5571932" y="5608684"/>
            <a:ext cx="532719" cy="569998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9B256802-AA04-C7EE-9818-B22D682DCFA3}"/>
              </a:ext>
            </a:extLst>
          </p:cNvPr>
          <p:cNvCxnSpPr>
            <a:cxnSpLocks/>
            <a:stCxn id="91" idx="1"/>
            <a:endCxn id="83" idx="3"/>
          </p:cNvCxnSpPr>
          <p:nvPr/>
        </p:nvCxnSpPr>
        <p:spPr>
          <a:xfrm rot="10800000">
            <a:off x="8092099" y="5608684"/>
            <a:ext cx="532719" cy="539852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8E0C2A7F-5E45-792D-48FE-E4A64956E743}"/>
              </a:ext>
            </a:extLst>
          </p:cNvPr>
          <p:cNvCxnSpPr>
            <a:cxnSpLocks/>
            <a:stCxn id="59" idx="1"/>
            <a:endCxn id="91" idx="3"/>
          </p:cNvCxnSpPr>
          <p:nvPr/>
        </p:nvCxnSpPr>
        <p:spPr>
          <a:xfrm rot="10800000" flipV="1">
            <a:off x="10672743" y="5592010"/>
            <a:ext cx="532719" cy="556526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2ABDB265-D09A-022B-790A-A13C84B13CCA}"/>
              </a:ext>
            </a:extLst>
          </p:cNvPr>
          <p:cNvSpPr/>
          <p:nvPr/>
        </p:nvSpPr>
        <p:spPr>
          <a:xfrm>
            <a:off x="1931385" y="4336406"/>
            <a:ext cx="379141" cy="352628"/>
          </a:xfrm>
          <a:prstGeom prst="ellipse">
            <a:avLst/>
          </a:prstGeom>
          <a:solidFill>
            <a:srgbClr val="FF0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674F79-9DCE-269D-094C-5A3BB193F64E}"/>
              </a:ext>
            </a:extLst>
          </p:cNvPr>
          <p:cNvGrpSpPr/>
          <p:nvPr/>
        </p:nvGrpSpPr>
        <p:grpSpPr>
          <a:xfrm>
            <a:off x="5938476" y="1277496"/>
            <a:ext cx="2020352" cy="2230407"/>
            <a:chOff x="5938476" y="1277496"/>
            <a:chExt cx="2020352" cy="2230407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03A4210-A23A-FB10-0516-C569E7ACB663}"/>
                </a:ext>
              </a:extLst>
            </p:cNvPr>
            <p:cNvGrpSpPr/>
            <p:nvPr/>
          </p:nvGrpSpPr>
          <p:grpSpPr>
            <a:xfrm>
              <a:off x="5938476" y="1277496"/>
              <a:ext cx="2020352" cy="2230407"/>
              <a:chOff x="4560964" y="1060530"/>
              <a:chExt cx="2020352" cy="2230407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52834009-EC22-CDFB-A24A-249E5EA7964D}"/>
                  </a:ext>
                </a:extLst>
              </p:cNvPr>
              <p:cNvGrpSpPr/>
              <p:nvPr/>
            </p:nvGrpSpPr>
            <p:grpSpPr>
              <a:xfrm>
                <a:off x="4560964" y="1060530"/>
                <a:ext cx="2020352" cy="2230407"/>
                <a:chOff x="4560964" y="1060530"/>
                <a:chExt cx="2020352" cy="2230407"/>
              </a:xfrm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2FADFDCC-9070-E15A-48F8-ACD1088C4215}"/>
                    </a:ext>
                  </a:extLst>
                </p:cNvPr>
                <p:cNvSpPr/>
                <p:nvPr/>
              </p:nvSpPr>
              <p:spPr>
                <a:xfrm>
                  <a:off x="4560964" y="1278651"/>
                  <a:ext cx="2020352" cy="2012286"/>
                </a:xfrm>
                <a:prstGeom prst="roundRect">
                  <a:avLst>
                    <a:gd name="adj" fmla="val 6743"/>
                  </a:avLst>
                </a:prstGeom>
                <a:noFill/>
                <a:ln w="12700">
                  <a:solidFill>
                    <a:srgbClr val="FF71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470B856-1D81-E508-0EBA-AB8791E7D56F}"/>
                    </a:ext>
                  </a:extLst>
                </p:cNvPr>
                <p:cNvSpPr/>
                <p:nvPr/>
              </p:nvSpPr>
              <p:spPr>
                <a:xfrm>
                  <a:off x="5345414" y="1060530"/>
                  <a:ext cx="379141" cy="352628"/>
                </a:xfrm>
                <a:prstGeom prst="ellipse">
                  <a:avLst/>
                </a:prstGeom>
                <a:solidFill>
                  <a:srgbClr val="FF01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500" b="1" dirty="0"/>
                    <a:t>3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D482681-FD80-EC94-E673-9590363CF459}"/>
                    </a:ext>
                  </a:extLst>
                </p:cNvPr>
                <p:cNvSpPr txBox="1"/>
                <p:nvPr/>
              </p:nvSpPr>
              <p:spPr>
                <a:xfrm>
                  <a:off x="4728117" y="1363133"/>
                  <a:ext cx="1672881" cy="353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700" b="1" dirty="0">
                      <a:solidFill>
                        <a:srgbClr val="FF0150"/>
                      </a:solidFill>
                      <a:cs typeface="Arial" panose="020B0604020202020204" pitchFamily="34" charset="0"/>
                    </a:rPr>
                    <a:t>BACKEND API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0D0DDFE-5529-2D89-7D67-C8697F01244A}"/>
                    </a:ext>
                  </a:extLst>
                </p:cNvPr>
                <p:cNvSpPr txBox="1"/>
                <p:nvPr/>
              </p:nvSpPr>
              <p:spPr>
                <a:xfrm>
                  <a:off x="4633536" y="2461019"/>
                  <a:ext cx="1893042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dirty="0">
                      <a:latin typeface="Aptos Display" panose="020B0004020202020204" pitchFamily="34" charset="0"/>
                      <a:cs typeface="Arial" panose="020B0604020202020204" pitchFamily="34" charset="0"/>
                    </a:rPr>
                    <a:t>Backend receives the request, validates and processes it.</a:t>
                  </a:r>
                </a:p>
              </p:txBody>
            </p:sp>
          </p:grp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8F26CD7-98E9-A8DA-0CA7-8DD10BC304D0}"/>
                  </a:ext>
                </a:extLst>
              </p:cNvPr>
              <p:cNvSpPr txBox="1"/>
              <p:nvPr/>
            </p:nvSpPr>
            <p:spPr>
              <a:xfrm>
                <a:off x="4783517" y="1609595"/>
                <a:ext cx="1575245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300" dirty="0"/>
                  <a:t>(Python </a:t>
                </a:r>
                <a:r>
                  <a:rPr lang="en-IN" sz="1300" dirty="0" err="1"/>
                  <a:t>FastAPI</a:t>
                </a:r>
                <a:r>
                  <a:rPr lang="en-IN" sz="1300" dirty="0"/>
                  <a:t>)</a:t>
                </a:r>
              </a:p>
            </p:txBody>
          </p:sp>
        </p:grpSp>
        <p:pic>
          <p:nvPicPr>
            <p:cNvPr id="182" name="Picture 181">
              <a:extLst>
                <a:ext uri="{FF2B5EF4-FFF2-40B4-BE49-F238E27FC236}">
                  <a16:creationId xmlns:a16="http://schemas.microsoft.com/office/drawing/2014/main" id="{3944918F-A03F-E154-AAF1-CB7BFE111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7" t="15818" r="5815" b="14946"/>
            <a:stretch>
              <a:fillRect/>
            </a:stretch>
          </p:blipFill>
          <p:spPr>
            <a:xfrm>
              <a:off x="6086300" y="2201575"/>
              <a:ext cx="1736992" cy="375902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73E6E9F-1FB8-4064-3D2D-F95B4CBD31C5}"/>
              </a:ext>
            </a:extLst>
          </p:cNvPr>
          <p:cNvGrpSpPr/>
          <p:nvPr/>
        </p:nvGrpSpPr>
        <p:grpSpPr>
          <a:xfrm>
            <a:off x="1105758" y="1276664"/>
            <a:ext cx="1777736" cy="2261747"/>
            <a:chOff x="1105758" y="1276664"/>
            <a:chExt cx="1777736" cy="2261747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C8E15B19-7D8C-4341-6702-72DE017368B9}"/>
                </a:ext>
              </a:extLst>
            </p:cNvPr>
            <p:cNvGrpSpPr/>
            <p:nvPr/>
          </p:nvGrpSpPr>
          <p:grpSpPr>
            <a:xfrm>
              <a:off x="1105758" y="1276664"/>
              <a:ext cx="1777736" cy="2261747"/>
              <a:chOff x="262938" y="1055077"/>
              <a:chExt cx="1777736" cy="2261747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51A1B044-DCF7-80DC-E1E8-B19B420F25D9}"/>
                  </a:ext>
                </a:extLst>
              </p:cNvPr>
              <p:cNvSpPr/>
              <p:nvPr/>
            </p:nvSpPr>
            <p:spPr>
              <a:xfrm>
                <a:off x="262938" y="1304538"/>
                <a:ext cx="1777736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8887BF5-6492-CDA3-910D-1D4DA364A949}"/>
                  </a:ext>
                </a:extLst>
              </p:cNvPr>
              <p:cNvSpPr/>
              <p:nvPr/>
            </p:nvSpPr>
            <p:spPr>
              <a:xfrm>
                <a:off x="962235" y="1055077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3004B7-5F63-FE91-C3BF-FBBFF4DE3BC7}"/>
                  </a:ext>
                </a:extLst>
              </p:cNvPr>
              <p:cNvSpPr txBox="1"/>
              <p:nvPr/>
            </p:nvSpPr>
            <p:spPr>
              <a:xfrm>
                <a:off x="262938" y="1388148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USER QUESTION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7E20EF-B0C6-1C5F-303E-3282CFD37011}"/>
                  </a:ext>
                </a:extLst>
              </p:cNvPr>
              <p:cNvSpPr txBox="1"/>
              <p:nvPr/>
            </p:nvSpPr>
            <p:spPr>
              <a:xfrm>
                <a:off x="331819" y="2474911"/>
                <a:ext cx="1665867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User ask a workforce related question.</a:t>
                </a:r>
              </a:p>
            </p:txBody>
          </p:sp>
        </p:grpSp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7DF50587-184F-CFE6-6BEE-1AF03D49A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62533" y="1937915"/>
              <a:ext cx="1080393" cy="69394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11A4FDE-10D8-F131-2098-BE8C6BC5C51E}"/>
              </a:ext>
            </a:extLst>
          </p:cNvPr>
          <p:cNvGrpSpPr/>
          <p:nvPr/>
        </p:nvGrpSpPr>
        <p:grpSpPr>
          <a:xfrm>
            <a:off x="8487315" y="1649806"/>
            <a:ext cx="2312615" cy="2250411"/>
            <a:chOff x="8487315" y="1649806"/>
            <a:chExt cx="2312615" cy="2250411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0DDC093-10C6-C08A-666A-F0F4200BF909}"/>
                </a:ext>
              </a:extLst>
            </p:cNvPr>
            <p:cNvGrpSpPr/>
            <p:nvPr/>
          </p:nvGrpSpPr>
          <p:grpSpPr>
            <a:xfrm>
              <a:off x="8487315" y="1649806"/>
              <a:ext cx="2312615" cy="2250411"/>
              <a:chOff x="6858112" y="1053358"/>
              <a:chExt cx="2312615" cy="2250411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FDC9D7E2-5667-FB60-7C9B-1879FA9B9B6D}"/>
                  </a:ext>
                </a:extLst>
              </p:cNvPr>
              <p:cNvSpPr/>
              <p:nvPr/>
            </p:nvSpPr>
            <p:spPr>
              <a:xfrm>
                <a:off x="6858112" y="1291483"/>
                <a:ext cx="2312615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485AAD3-5E54-8B47-2FC9-0EAEF97B77FA}"/>
                  </a:ext>
                </a:extLst>
              </p:cNvPr>
              <p:cNvSpPr/>
              <p:nvPr/>
            </p:nvSpPr>
            <p:spPr>
              <a:xfrm>
                <a:off x="7821489" y="1053358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4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6877E91-29BC-24F3-3E7A-B40FC6F39948}"/>
                  </a:ext>
                </a:extLst>
              </p:cNvPr>
              <p:cNvSpPr txBox="1"/>
              <p:nvPr/>
            </p:nvSpPr>
            <p:spPr>
              <a:xfrm>
                <a:off x="6977569" y="1385426"/>
                <a:ext cx="206698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GENERATE EMBEDDING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D06E34-4402-2D6B-EF57-B58DC76F3D12}"/>
                  </a:ext>
                </a:extLst>
              </p:cNvPr>
              <p:cNvSpPr txBox="1"/>
              <p:nvPr/>
            </p:nvSpPr>
            <p:spPr>
              <a:xfrm>
                <a:off x="6935152" y="2648597"/>
                <a:ext cx="216983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Convert the question into a vector embedding.</a:t>
                </a:r>
              </a:p>
            </p:txBody>
          </p:sp>
        </p:grpSp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5B93A460-DC0E-4F50-8A4B-3B6E99DBB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42987" y="2261179"/>
              <a:ext cx="999108" cy="94245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A06288E-B91F-E67A-6B04-FE4CB3E58981}"/>
              </a:ext>
            </a:extLst>
          </p:cNvPr>
          <p:cNvGrpSpPr/>
          <p:nvPr/>
        </p:nvGrpSpPr>
        <p:grpSpPr>
          <a:xfrm>
            <a:off x="11339048" y="1276664"/>
            <a:ext cx="2219610" cy="2261747"/>
            <a:chOff x="11339048" y="1276664"/>
            <a:chExt cx="2219610" cy="2261747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C57429BD-6CD7-4179-2195-77C8DD748810}"/>
                </a:ext>
              </a:extLst>
            </p:cNvPr>
            <p:cNvGrpSpPr/>
            <p:nvPr/>
          </p:nvGrpSpPr>
          <p:grpSpPr>
            <a:xfrm>
              <a:off x="11339048" y="1276664"/>
              <a:ext cx="2219610" cy="2261747"/>
              <a:chOff x="9775572" y="1055077"/>
              <a:chExt cx="2219610" cy="2261747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423CE4C5-6713-15D5-836C-9BB2A34B772B}"/>
                  </a:ext>
                </a:extLst>
              </p:cNvPr>
              <p:cNvSpPr/>
              <p:nvPr/>
            </p:nvSpPr>
            <p:spPr>
              <a:xfrm>
                <a:off x="9775572" y="1304538"/>
                <a:ext cx="2219610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9986032-BB1D-E89E-60D5-F78AFC491E32}"/>
                  </a:ext>
                </a:extLst>
              </p:cNvPr>
              <p:cNvSpPr/>
              <p:nvPr/>
            </p:nvSpPr>
            <p:spPr>
              <a:xfrm>
                <a:off x="10807213" y="1055077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5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C581377-3A75-2587-564D-50150807EE5B}"/>
                  </a:ext>
                </a:extLst>
              </p:cNvPr>
              <p:cNvSpPr txBox="1"/>
              <p:nvPr/>
            </p:nvSpPr>
            <p:spPr>
              <a:xfrm>
                <a:off x="9915418" y="1389829"/>
                <a:ext cx="1990435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SEARCH POSTGRES DB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5D01756-835F-BF44-61FC-4689056CF915}"/>
                  </a:ext>
                </a:extLst>
              </p:cNvPr>
              <p:cNvSpPr txBox="1"/>
              <p:nvPr/>
            </p:nvSpPr>
            <p:spPr>
              <a:xfrm>
                <a:off x="9828303" y="2284794"/>
                <a:ext cx="210844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Search the vector database for semantically relevant information.</a:t>
                </a:r>
              </a:p>
            </p:txBody>
          </p:sp>
        </p:grpSp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788F4474-E446-0698-4E07-A97E6211C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182967" y="1862548"/>
              <a:ext cx="754586" cy="754586"/>
            </a:xfrm>
            <a:prstGeom prst="rect">
              <a:avLst/>
            </a:pr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8E39E6-F693-1ACC-8503-2D25AA70F9C3}"/>
              </a:ext>
            </a:extLst>
          </p:cNvPr>
          <p:cNvGrpSpPr/>
          <p:nvPr/>
        </p:nvGrpSpPr>
        <p:grpSpPr>
          <a:xfrm>
            <a:off x="1220937" y="4336406"/>
            <a:ext cx="1777736" cy="2261747"/>
            <a:chOff x="1220937" y="4336406"/>
            <a:chExt cx="1777736" cy="2261747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7567FBF-E8FE-D4C8-D4C5-3B15A436E8B2}"/>
                </a:ext>
              </a:extLst>
            </p:cNvPr>
            <p:cNvSpPr/>
            <p:nvPr/>
          </p:nvSpPr>
          <p:spPr>
            <a:xfrm>
              <a:off x="1220937" y="4585867"/>
              <a:ext cx="1777736" cy="2012286"/>
            </a:xfrm>
            <a:prstGeom prst="roundRect">
              <a:avLst>
                <a:gd name="adj" fmla="val 6743"/>
              </a:avLst>
            </a:prstGeom>
            <a:noFill/>
            <a:ln w="12700">
              <a:solidFill>
                <a:srgbClr val="FF71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36EC14-652F-E891-5EE0-08B89BC86F53}"/>
                </a:ext>
              </a:extLst>
            </p:cNvPr>
            <p:cNvSpPr txBox="1"/>
            <p:nvPr/>
          </p:nvSpPr>
          <p:spPr>
            <a:xfrm>
              <a:off x="1220937" y="4681245"/>
              <a:ext cx="177773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b="1" dirty="0">
                  <a:solidFill>
                    <a:srgbClr val="FF0150"/>
                  </a:solidFill>
                  <a:cs typeface="Arial" panose="020B0604020202020204" pitchFamily="34" charset="0"/>
                </a:rPr>
                <a:t>STREAMLIT UI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8AAC24F-DFD6-95F5-932A-E05095095ED7}"/>
                </a:ext>
              </a:extLst>
            </p:cNvPr>
            <p:cNvSpPr txBox="1"/>
            <p:nvPr/>
          </p:nvSpPr>
          <p:spPr>
            <a:xfrm>
              <a:off x="1220937" y="5708384"/>
              <a:ext cx="177773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>
                  <a:latin typeface="Aptos Display" panose="020B0004020202020204" pitchFamily="34" charset="0"/>
                  <a:cs typeface="Arial" panose="020B0604020202020204" pitchFamily="34" charset="0"/>
                </a:rPr>
                <a:t>Answer is sent back and displayed to the user.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CCBCB9A4-A79E-2C30-CEFF-0435278F2896}"/>
                </a:ext>
              </a:extLst>
            </p:cNvPr>
            <p:cNvSpPr txBox="1"/>
            <p:nvPr/>
          </p:nvSpPr>
          <p:spPr>
            <a:xfrm>
              <a:off x="1931385" y="4336406"/>
              <a:ext cx="49909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chemeClr val="bg1"/>
                  </a:solidFill>
                </a:rPr>
                <a:t>10</a:t>
              </a:r>
            </a:p>
          </p:txBody>
        </p:sp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38CFCA17-6D3C-E764-D405-EE3A04CEB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87869" y="4970252"/>
              <a:ext cx="845512" cy="845512"/>
            </a:xfrm>
            <a:prstGeom prst="rect">
              <a:avLst/>
            </a:prstGeom>
          </p:spPr>
        </p:pic>
      </p:grpSp>
      <p:pic>
        <p:nvPicPr>
          <p:cNvPr id="195" name="Picture 194">
            <a:extLst>
              <a:ext uri="{FF2B5EF4-FFF2-40B4-BE49-F238E27FC236}">
                <a16:creationId xmlns:a16="http://schemas.microsoft.com/office/drawing/2014/main" id="{2E8619FE-2455-3F85-7A9C-A8D3C5ADD5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792" y="758422"/>
            <a:ext cx="485843" cy="847843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CDD687CC-D805-3508-9736-E6AD127EAE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24642" y="6198430"/>
            <a:ext cx="485843" cy="847843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70DF238A-6F75-F38A-910A-A4CA32F67C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2DE5E4DC-D95B-DF33-A677-39889ACEFB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D80FED03-80F3-DD39-51D2-9C8C4F416ED1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9/11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74550C3-DBA7-3A3A-6453-38B8F48CE7F0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2CD1F3-0290-DF2D-6514-A7CD28C0D7FB}"/>
              </a:ext>
            </a:extLst>
          </p:cNvPr>
          <p:cNvGrpSpPr/>
          <p:nvPr/>
        </p:nvGrpSpPr>
        <p:grpSpPr>
          <a:xfrm>
            <a:off x="3525025" y="4910246"/>
            <a:ext cx="2046906" cy="2274579"/>
            <a:chOff x="3525025" y="4910246"/>
            <a:chExt cx="2046906" cy="2274579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73E594E-41FA-EDA9-7B06-1442F179711B}"/>
                </a:ext>
              </a:extLst>
            </p:cNvPr>
            <p:cNvGrpSpPr/>
            <p:nvPr/>
          </p:nvGrpSpPr>
          <p:grpSpPr>
            <a:xfrm>
              <a:off x="3525025" y="4910246"/>
              <a:ext cx="2046906" cy="2274579"/>
              <a:chOff x="3472948" y="3294299"/>
              <a:chExt cx="2046906" cy="2274579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EF399040-94DA-AE89-633A-2ABDB7A330EF}"/>
                  </a:ext>
                </a:extLst>
              </p:cNvPr>
              <p:cNvSpPr/>
              <p:nvPr/>
            </p:nvSpPr>
            <p:spPr>
              <a:xfrm>
                <a:off x="3472948" y="3556592"/>
                <a:ext cx="2046906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812DD387-81DC-D24E-D1FF-CF215F5AB9C6}"/>
                  </a:ext>
                </a:extLst>
              </p:cNvPr>
              <p:cNvSpPr/>
              <p:nvPr/>
            </p:nvSpPr>
            <p:spPr>
              <a:xfrm>
                <a:off x="4309463" y="3294299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9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59CE00C-C478-DB1D-82CE-2B24F7103309}"/>
                  </a:ext>
                </a:extLst>
              </p:cNvPr>
              <p:cNvSpPr txBox="1"/>
              <p:nvPr/>
            </p:nvSpPr>
            <p:spPr>
              <a:xfrm>
                <a:off x="3607533" y="3650289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GENERATE ANSWER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7D544F1-0E53-55F6-CFE6-D7582ECA4011}"/>
                  </a:ext>
                </a:extLst>
              </p:cNvPr>
              <p:cNvSpPr txBox="1"/>
              <p:nvPr/>
            </p:nvSpPr>
            <p:spPr>
              <a:xfrm>
                <a:off x="3584171" y="4603015"/>
                <a:ext cx="182445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LLM generates accurate, context –aware answer based on retrieved data.</a:t>
                </a:r>
              </a:p>
            </p:txBody>
          </p:sp>
        </p:grpSp>
        <p:pic>
          <p:nvPicPr>
            <p:cNvPr id="207" name="Picture 206">
              <a:extLst>
                <a:ext uri="{FF2B5EF4-FFF2-40B4-BE49-F238E27FC236}">
                  <a16:creationId xmlns:a16="http://schemas.microsoft.com/office/drawing/2014/main" id="{61F63411-846D-4473-5393-B66ACC982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198458" y="5533686"/>
              <a:ext cx="689847" cy="689847"/>
            </a:xfrm>
            <a:prstGeom prst="rect">
              <a:avLst/>
            </a:prstGeom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B0349A-1292-0357-D40C-1B2DE69FCD2E}"/>
              </a:ext>
            </a:extLst>
          </p:cNvPr>
          <p:cNvGrpSpPr/>
          <p:nvPr/>
        </p:nvGrpSpPr>
        <p:grpSpPr>
          <a:xfrm>
            <a:off x="11205461" y="4336406"/>
            <a:ext cx="1777736" cy="2261747"/>
            <a:chOff x="11205461" y="4336406"/>
            <a:chExt cx="1777736" cy="2261747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23DD88E2-0C29-1CDA-26C6-4EE57D1FF293}"/>
                </a:ext>
              </a:extLst>
            </p:cNvPr>
            <p:cNvGrpSpPr/>
            <p:nvPr/>
          </p:nvGrpSpPr>
          <p:grpSpPr>
            <a:xfrm>
              <a:off x="11205461" y="4336406"/>
              <a:ext cx="1777736" cy="2261747"/>
              <a:chOff x="12315002" y="1067909"/>
              <a:chExt cx="1777736" cy="2261747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9E618FDF-5C45-8E01-A9A2-58B1CCC3F10B}"/>
                  </a:ext>
                </a:extLst>
              </p:cNvPr>
              <p:cNvSpPr/>
              <p:nvPr/>
            </p:nvSpPr>
            <p:spPr>
              <a:xfrm>
                <a:off x="12315002" y="1317370"/>
                <a:ext cx="1777736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BAC4323-4E30-2CF5-2F7C-90EC2FC028F3}"/>
                  </a:ext>
                </a:extLst>
              </p:cNvPr>
              <p:cNvSpPr/>
              <p:nvPr/>
            </p:nvSpPr>
            <p:spPr>
              <a:xfrm>
                <a:off x="13014299" y="1067909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6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CFD7497-4FA4-B2D0-3E01-1BAE3FB2E6DB}"/>
                  </a:ext>
                </a:extLst>
              </p:cNvPr>
              <p:cNvSpPr txBox="1"/>
              <p:nvPr/>
            </p:nvSpPr>
            <p:spPr>
              <a:xfrm>
                <a:off x="12315002" y="1389829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TOP 5 CHUNKS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4BFEDA2-8CE4-AB53-6DA3-9BB8B6088D49}"/>
                  </a:ext>
                </a:extLst>
              </p:cNvPr>
              <p:cNvSpPr txBox="1"/>
              <p:nvPr/>
            </p:nvSpPr>
            <p:spPr>
              <a:xfrm>
                <a:off x="12403014" y="2428619"/>
                <a:ext cx="1591766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Retrieve top most relevant text chunks.</a:t>
                </a:r>
              </a:p>
            </p:txBody>
          </p:sp>
        </p:grpSp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F58949D5-142D-12EA-7F14-D7BCCF1E5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618225" y="4855622"/>
              <a:ext cx="973711" cy="973711"/>
            </a:xfrm>
            <a:prstGeom prst="rect">
              <a:avLst/>
            </a:prstGeom>
            <a:effectLst/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125AAE-98A5-7112-F923-366FD1F1C890}"/>
              </a:ext>
            </a:extLst>
          </p:cNvPr>
          <p:cNvGrpSpPr/>
          <p:nvPr/>
        </p:nvGrpSpPr>
        <p:grpSpPr>
          <a:xfrm>
            <a:off x="8624817" y="4904083"/>
            <a:ext cx="2047925" cy="2250596"/>
            <a:chOff x="8624817" y="4904083"/>
            <a:chExt cx="2047925" cy="2250596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111CC231-3AB1-C124-0738-68B054316D52}"/>
                </a:ext>
              </a:extLst>
            </p:cNvPr>
            <p:cNvGrpSpPr/>
            <p:nvPr/>
          </p:nvGrpSpPr>
          <p:grpSpPr>
            <a:xfrm>
              <a:off x="8624817" y="4904083"/>
              <a:ext cx="2047925" cy="2250596"/>
              <a:chOff x="9613568" y="3297661"/>
              <a:chExt cx="2047925" cy="2250596"/>
            </a:xfrm>
          </p:grpSpPr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9397651B-9601-531B-BE43-A5E25B8D7483}"/>
                  </a:ext>
                </a:extLst>
              </p:cNvPr>
              <p:cNvSpPr/>
              <p:nvPr/>
            </p:nvSpPr>
            <p:spPr>
              <a:xfrm>
                <a:off x="9613568" y="3535971"/>
                <a:ext cx="2047925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3475D9DD-A8F4-CB41-FF96-4EA891EAF308}"/>
                  </a:ext>
                </a:extLst>
              </p:cNvPr>
              <p:cNvSpPr/>
              <p:nvPr/>
            </p:nvSpPr>
            <p:spPr>
              <a:xfrm>
                <a:off x="10447959" y="3297661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7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62AF31E-3376-16C9-7B49-4B6833E26713}"/>
                  </a:ext>
                </a:extLst>
              </p:cNvPr>
              <p:cNvSpPr txBox="1"/>
              <p:nvPr/>
            </p:nvSpPr>
            <p:spPr>
              <a:xfrm>
                <a:off x="9748661" y="3639138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CREATE PROMPT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28A4E01-3C0E-FC81-DEC2-08D4957254CF}"/>
                  </a:ext>
                </a:extLst>
              </p:cNvPr>
              <p:cNvSpPr txBox="1"/>
              <p:nvPr/>
            </p:nvSpPr>
            <p:spPr>
              <a:xfrm>
                <a:off x="9667978" y="4524829"/>
                <a:ext cx="196006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Combine the user question with retrieved context to create a rich prompt.</a:t>
                </a:r>
              </a:p>
            </p:txBody>
          </p:sp>
        </p:grpSp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54438696-DFA5-CFE3-F3B7-36586F74F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284810" y="5533686"/>
              <a:ext cx="660245" cy="66024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484EE4A-ADF3-29F4-A485-7912E5043920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532C0F-0B16-D264-F454-2266C0943B4C}"/>
              </a:ext>
            </a:extLst>
          </p:cNvPr>
          <p:cNvGrpSpPr/>
          <p:nvPr/>
        </p:nvGrpSpPr>
        <p:grpSpPr>
          <a:xfrm>
            <a:off x="6104650" y="4364453"/>
            <a:ext cx="1987448" cy="2250374"/>
            <a:chOff x="6104650" y="4364453"/>
            <a:chExt cx="1987448" cy="2250374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9A9FE72-58D0-A3A5-CD28-4DAB568A3B75}"/>
                </a:ext>
              </a:extLst>
            </p:cNvPr>
            <p:cNvGrpSpPr/>
            <p:nvPr/>
          </p:nvGrpSpPr>
          <p:grpSpPr>
            <a:xfrm>
              <a:off x="6104650" y="4364453"/>
              <a:ext cx="1987448" cy="2250374"/>
              <a:chOff x="7272285" y="3285051"/>
              <a:chExt cx="1987448" cy="2250374"/>
            </a:xfrm>
          </p:grpSpPr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40F4ADA3-4896-1AC3-7D59-D995F4B32257}"/>
                  </a:ext>
                </a:extLst>
              </p:cNvPr>
              <p:cNvSpPr/>
              <p:nvPr/>
            </p:nvSpPr>
            <p:spPr>
              <a:xfrm>
                <a:off x="7272285" y="3523139"/>
                <a:ext cx="1987448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8149304-4BB5-3A23-C529-9E10EED20B24}"/>
                  </a:ext>
                </a:extLst>
              </p:cNvPr>
              <p:cNvSpPr/>
              <p:nvPr/>
            </p:nvSpPr>
            <p:spPr>
              <a:xfrm>
                <a:off x="8076438" y="3285051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8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5E804BF-FCCA-6C7D-8CEF-A4C268B0DE66}"/>
                  </a:ext>
                </a:extLst>
              </p:cNvPr>
              <p:cNvSpPr txBox="1"/>
              <p:nvPr/>
            </p:nvSpPr>
            <p:spPr>
              <a:xfrm>
                <a:off x="7398352" y="3651613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GROK API (LLM)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C2DEB16-4E29-13F6-FC51-9870EC1A7308}"/>
                  </a:ext>
                </a:extLst>
              </p:cNvPr>
              <p:cNvSpPr txBox="1"/>
              <p:nvPr/>
            </p:nvSpPr>
            <p:spPr>
              <a:xfrm>
                <a:off x="7342597" y="4676720"/>
                <a:ext cx="1861381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Prompt is sent to Grok API to generate intelligent answer.</a:t>
                </a: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F1F6F4B-8DC3-54FC-F363-1BE7ECA3A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800213" y="5069511"/>
              <a:ext cx="648989" cy="648989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A4E20E6-8816-37E7-0CD7-B10E57662C46}"/>
              </a:ext>
            </a:extLst>
          </p:cNvPr>
          <p:cNvGrpSpPr/>
          <p:nvPr/>
        </p:nvGrpSpPr>
        <p:grpSpPr>
          <a:xfrm>
            <a:off x="3422612" y="1646835"/>
            <a:ext cx="1966115" cy="2261747"/>
            <a:chOff x="3422612" y="1646835"/>
            <a:chExt cx="1966115" cy="2261747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CCF5D17-F065-9C4B-264B-565AB83B0AF1}"/>
                </a:ext>
              </a:extLst>
            </p:cNvPr>
            <p:cNvGrpSpPr/>
            <p:nvPr/>
          </p:nvGrpSpPr>
          <p:grpSpPr>
            <a:xfrm>
              <a:off x="3422612" y="1646835"/>
              <a:ext cx="1966115" cy="2261747"/>
              <a:chOff x="2394509" y="1067909"/>
              <a:chExt cx="1966115" cy="2261747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312E5C8-D572-32AF-E2F4-102ABF6FF4AD}"/>
                  </a:ext>
                </a:extLst>
              </p:cNvPr>
              <p:cNvSpPr/>
              <p:nvPr/>
            </p:nvSpPr>
            <p:spPr>
              <a:xfrm>
                <a:off x="2394509" y="1317370"/>
                <a:ext cx="1966115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663FE28-3F54-07C6-A9A8-B04C64ED6B1D}"/>
                  </a:ext>
                </a:extLst>
              </p:cNvPr>
              <p:cNvSpPr/>
              <p:nvPr/>
            </p:nvSpPr>
            <p:spPr>
              <a:xfrm>
                <a:off x="3183139" y="1067909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2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06230D-8F63-2489-2DCB-FBB2070601E3}"/>
                  </a:ext>
                </a:extLst>
              </p:cNvPr>
              <p:cNvSpPr txBox="1"/>
              <p:nvPr/>
            </p:nvSpPr>
            <p:spPr>
              <a:xfrm>
                <a:off x="2483842" y="1389829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PYTHON FRONTEND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F0B8B52-4EBE-A99E-877A-8B54F6F44389}"/>
                  </a:ext>
                </a:extLst>
              </p:cNvPr>
              <p:cNvSpPr txBox="1"/>
              <p:nvPr/>
            </p:nvSpPr>
            <p:spPr>
              <a:xfrm>
                <a:off x="2453916" y="2462346"/>
                <a:ext cx="1837585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Frontend Captures the question and sends to backend.</a:t>
                </a: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8D4FF4B-2D26-8CEC-1B1A-96555C034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73317" y="2189935"/>
              <a:ext cx="966216" cy="9662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92959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C3DA-3718-6424-FD61-57D28E2D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FD1F3F-E4BC-4D14-CB54-15DC86A690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019E60-E14E-E3B5-5DE5-8FE0C0D06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0FA113-2C52-5BAC-D477-C716F319F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AA3D44-84C5-D785-881F-3E6E93626044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9/11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F64841-0D4D-075D-3F51-ECC603E088D5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7FA36-0F7A-5140-1341-C9C8AAC109A4}"/>
              </a:ext>
            </a:extLst>
          </p:cNvPr>
          <p:cNvSpPr txBox="1"/>
          <p:nvPr/>
        </p:nvSpPr>
        <p:spPr>
          <a:xfrm>
            <a:off x="2813538" y="173013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Business Impact &amp; Recommendations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1C036C-B2B4-15AD-7812-43582E55B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4" y="770241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957774-F351-40BD-23A8-D94954C40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9336" y="6230748"/>
            <a:ext cx="485843" cy="84784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6E416-93A9-CA8D-E7A6-235250CE8E06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D68AE79-E5C4-91E0-0CE4-9D888DCAF254}"/>
              </a:ext>
            </a:extLst>
          </p:cNvPr>
          <p:cNvGrpSpPr/>
          <p:nvPr/>
        </p:nvGrpSpPr>
        <p:grpSpPr>
          <a:xfrm>
            <a:off x="1194914" y="1889620"/>
            <a:ext cx="12076993" cy="4825711"/>
            <a:chOff x="884383" y="1205451"/>
            <a:chExt cx="11463342" cy="424871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F634C51-C9C2-835F-EC3C-A32692CF08C7}"/>
                </a:ext>
              </a:extLst>
            </p:cNvPr>
            <p:cNvGrpSpPr/>
            <p:nvPr/>
          </p:nvGrpSpPr>
          <p:grpSpPr>
            <a:xfrm>
              <a:off x="884383" y="1205451"/>
              <a:ext cx="9046878" cy="4248718"/>
              <a:chOff x="3389402" y="2012400"/>
              <a:chExt cx="9046878" cy="4248718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9DD95-6F21-E57C-504C-B47D3DECCD04}"/>
                  </a:ext>
                </a:extLst>
              </p:cNvPr>
              <p:cNvGrpSpPr/>
              <p:nvPr/>
            </p:nvGrpSpPr>
            <p:grpSpPr>
              <a:xfrm rot="300000">
                <a:off x="8243740" y="2098986"/>
                <a:ext cx="4192540" cy="4162132"/>
                <a:chOff x="5382536" y="2170800"/>
                <a:chExt cx="3876664" cy="3848547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3F5DFE9-B10F-DE9C-BC71-3BC00CEF9A53}"/>
                    </a:ext>
                  </a:extLst>
                </p:cNvPr>
                <p:cNvSpPr/>
                <p:nvPr/>
              </p:nvSpPr>
              <p:spPr>
                <a:xfrm>
                  <a:off x="6285600" y="3085200"/>
                  <a:ext cx="2059200" cy="2059200"/>
                </a:xfrm>
                <a:custGeom>
                  <a:avLst/>
                  <a:gdLst>
                    <a:gd name="csX0" fmla="*/ 1144800 w 2059200"/>
                    <a:gd name="csY0" fmla="*/ 0 h 2059200"/>
                    <a:gd name="csX1" fmla="*/ 2059200 w 2059200"/>
                    <a:gd name="csY1" fmla="*/ 914400 h 2059200"/>
                    <a:gd name="csX2" fmla="*/ 1648540 w 2059200"/>
                    <a:gd name="csY2" fmla="*/ 914400 h 2059200"/>
                    <a:gd name="csX3" fmla="*/ 914400 w 2059200"/>
                    <a:gd name="csY3" fmla="*/ 1648540 h 2059200"/>
                    <a:gd name="csX4" fmla="*/ 914400 w 2059200"/>
                    <a:gd name="csY4" fmla="*/ 2059200 h 2059200"/>
                    <a:gd name="csX5" fmla="*/ 0 w 2059200"/>
                    <a:gd name="csY5" fmla="*/ 1144800 h 2059200"/>
                    <a:gd name="csX6" fmla="*/ 410660 w 2059200"/>
                    <a:gd name="csY6" fmla="*/ 1144800 h 2059200"/>
                    <a:gd name="csX7" fmla="*/ 1144800 w 2059200"/>
                    <a:gd name="csY7" fmla="*/ 410660 h 2059200"/>
                    <a:gd name="csX8" fmla="*/ 1144800 w 2059200"/>
                    <a:gd name="csY8" fmla="*/ 0 h 2059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59200" h="2059200">
                      <a:moveTo>
                        <a:pt x="1144800" y="0"/>
                      </a:moveTo>
                      <a:cubicBezTo>
                        <a:pt x="1144800" y="505009"/>
                        <a:pt x="1554191" y="914400"/>
                        <a:pt x="2059200" y="914400"/>
                      </a:cubicBezTo>
                      <a:lnTo>
                        <a:pt x="1648540" y="914400"/>
                      </a:lnTo>
                      <a:cubicBezTo>
                        <a:pt x="1243086" y="914400"/>
                        <a:pt x="914400" y="1243086"/>
                        <a:pt x="914400" y="1648540"/>
                      </a:cubicBezTo>
                      <a:lnTo>
                        <a:pt x="914400" y="2059200"/>
                      </a:lnTo>
                      <a:cubicBezTo>
                        <a:pt x="914400" y="1554191"/>
                        <a:pt x="505009" y="1144800"/>
                        <a:pt x="0" y="1144800"/>
                      </a:cubicBezTo>
                      <a:lnTo>
                        <a:pt x="410660" y="1144800"/>
                      </a:lnTo>
                      <a:cubicBezTo>
                        <a:pt x="816114" y="1144800"/>
                        <a:pt x="1144800" y="816114"/>
                        <a:pt x="1144800" y="410660"/>
                      </a:cubicBezTo>
                      <a:lnTo>
                        <a:pt x="11448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1B20D9D-3416-757E-FE50-DE75224F6A0C}"/>
                    </a:ext>
                  </a:extLst>
                </p:cNvPr>
                <p:cNvSpPr/>
                <p:nvPr/>
              </p:nvSpPr>
              <p:spPr>
                <a:xfrm>
                  <a:off x="7430400" y="21708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604BAEC5-3F14-0E81-0969-79C6812FECF3}"/>
                    </a:ext>
                  </a:extLst>
                </p:cNvPr>
                <p:cNvSpPr/>
                <p:nvPr/>
              </p:nvSpPr>
              <p:spPr>
                <a:xfrm>
                  <a:off x="5382536" y="4190547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D5C4417-3A4F-EF4C-6563-116360E070BB}"/>
                  </a:ext>
                </a:extLst>
              </p:cNvPr>
              <p:cNvGrpSpPr/>
              <p:nvPr/>
            </p:nvGrpSpPr>
            <p:grpSpPr>
              <a:xfrm rot="300000">
                <a:off x="3389402" y="2012400"/>
                <a:ext cx="4204800" cy="4204800"/>
                <a:chOff x="5371200" y="2170800"/>
                <a:chExt cx="3888000" cy="3888000"/>
              </a:xfrm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3F0F1B2-4DE6-A3C4-8111-394147C2F94D}"/>
                    </a:ext>
                  </a:extLst>
                </p:cNvPr>
                <p:cNvSpPr/>
                <p:nvPr/>
              </p:nvSpPr>
              <p:spPr>
                <a:xfrm>
                  <a:off x="6285600" y="3085200"/>
                  <a:ext cx="2059200" cy="2059200"/>
                </a:xfrm>
                <a:custGeom>
                  <a:avLst/>
                  <a:gdLst>
                    <a:gd name="csX0" fmla="*/ 1144800 w 2059200"/>
                    <a:gd name="csY0" fmla="*/ 0 h 2059200"/>
                    <a:gd name="csX1" fmla="*/ 2059200 w 2059200"/>
                    <a:gd name="csY1" fmla="*/ 914400 h 2059200"/>
                    <a:gd name="csX2" fmla="*/ 1648540 w 2059200"/>
                    <a:gd name="csY2" fmla="*/ 914400 h 2059200"/>
                    <a:gd name="csX3" fmla="*/ 914400 w 2059200"/>
                    <a:gd name="csY3" fmla="*/ 1648540 h 2059200"/>
                    <a:gd name="csX4" fmla="*/ 914400 w 2059200"/>
                    <a:gd name="csY4" fmla="*/ 2059200 h 2059200"/>
                    <a:gd name="csX5" fmla="*/ 0 w 2059200"/>
                    <a:gd name="csY5" fmla="*/ 1144800 h 2059200"/>
                    <a:gd name="csX6" fmla="*/ 410660 w 2059200"/>
                    <a:gd name="csY6" fmla="*/ 1144800 h 2059200"/>
                    <a:gd name="csX7" fmla="*/ 1144800 w 2059200"/>
                    <a:gd name="csY7" fmla="*/ 410660 h 2059200"/>
                    <a:gd name="csX8" fmla="*/ 1144800 w 2059200"/>
                    <a:gd name="csY8" fmla="*/ 0 h 2059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59200" h="2059200">
                      <a:moveTo>
                        <a:pt x="1144800" y="0"/>
                      </a:moveTo>
                      <a:cubicBezTo>
                        <a:pt x="1144800" y="505009"/>
                        <a:pt x="1554191" y="914400"/>
                        <a:pt x="2059200" y="914400"/>
                      </a:cubicBezTo>
                      <a:lnTo>
                        <a:pt x="1648540" y="914400"/>
                      </a:lnTo>
                      <a:cubicBezTo>
                        <a:pt x="1243086" y="914400"/>
                        <a:pt x="914400" y="1243086"/>
                        <a:pt x="914400" y="1648540"/>
                      </a:cubicBezTo>
                      <a:lnTo>
                        <a:pt x="914400" y="2059200"/>
                      </a:lnTo>
                      <a:cubicBezTo>
                        <a:pt x="914400" y="1554191"/>
                        <a:pt x="505009" y="1144800"/>
                        <a:pt x="0" y="1144800"/>
                      </a:cubicBezTo>
                      <a:lnTo>
                        <a:pt x="410660" y="1144800"/>
                      </a:lnTo>
                      <a:cubicBezTo>
                        <a:pt x="816114" y="1144800"/>
                        <a:pt x="1144800" y="816114"/>
                        <a:pt x="1144800" y="410660"/>
                      </a:cubicBezTo>
                      <a:lnTo>
                        <a:pt x="11448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47103221-DC0D-9542-8135-D1536E617D08}"/>
                    </a:ext>
                  </a:extLst>
                </p:cNvPr>
                <p:cNvSpPr/>
                <p:nvPr/>
              </p:nvSpPr>
              <p:spPr>
                <a:xfrm>
                  <a:off x="7430400" y="21708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62FFB573-27BD-149C-39A4-8CBDB5D7EA50}"/>
                    </a:ext>
                  </a:extLst>
                </p:cNvPr>
                <p:cNvSpPr/>
                <p:nvPr/>
              </p:nvSpPr>
              <p:spPr>
                <a:xfrm>
                  <a:off x="5371200" y="42300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0AE47DE-B986-87E4-0D86-A3A937E815B4}"/>
                  </a:ext>
                </a:extLst>
              </p:cNvPr>
              <p:cNvGrpSpPr/>
              <p:nvPr/>
            </p:nvGrpSpPr>
            <p:grpSpPr>
              <a:xfrm rot="15914980">
                <a:off x="5833465" y="2038076"/>
                <a:ext cx="4204800" cy="4204800"/>
                <a:chOff x="5371200" y="2170800"/>
                <a:chExt cx="3888000" cy="3888000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7C6AA37-8AFD-CF24-4092-5CE70A04C3A4}"/>
                    </a:ext>
                  </a:extLst>
                </p:cNvPr>
                <p:cNvSpPr/>
                <p:nvPr/>
              </p:nvSpPr>
              <p:spPr>
                <a:xfrm>
                  <a:off x="6285600" y="3085200"/>
                  <a:ext cx="2059200" cy="2059200"/>
                </a:xfrm>
                <a:custGeom>
                  <a:avLst/>
                  <a:gdLst>
                    <a:gd name="csX0" fmla="*/ 1144800 w 2059200"/>
                    <a:gd name="csY0" fmla="*/ 0 h 2059200"/>
                    <a:gd name="csX1" fmla="*/ 2059200 w 2059200"/>
                    <a:gd name="csY1" fmla="*/ 914400 h 2059200"/>
                    <a:gd name="csX2" fmla="*/ 1648540 w 2059200"/>
                    <a:gd name="csY2" fmla="*/ 914400 h 2059200"/>
                    <a:gd name="csX3" fmla="*/ 914400 w 2059200"/>
                    <a:gd name="csY3" fmla="*/ 1648540 h 2059200"/>
                    <a:gd name="csX4" fmla="*/ 914400 w 2059200"/>
                    <a:gd name="csY4" fmla="*/ 2059200 h 2059200"/>
                    <a:gd name="csX5" fmla="*/ 0 w 2059200"/>
                    <a:gd name="csY5" fmla="*/ 1144800 h 2059200"/>
                    <a:gd name="csX6" fmla="*/ 410660 w 2059200"/>
                    <a:gd name="csY6" fmla="*/ 1144800 h 2059200"/>
                    <a:gd name="csX7" fmla="*/ 1144800 w 2059200"/>
                    <a:gd name="csY7" fmla="*/ 410660 h 2059200"/>
                    <a:gd name="csX8" fmla="*/ 1144800 w 2059200"/>
                    <a:gd name="csY8" fmla="*/ 0 h 2059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59200" h="2059200">
                      <a:moveTo>
                        <a:pt x="1144800" y="0"/>
                      </a:moveTo>
                      <a:cubicBezTo>
                        <a:pt x="1144800" y="505009"/>
                        <a:pt x="1554191" y="914400"/>
                        <a:pt x="2059200" y="914400"/>
                      </a:cubicBezTo>
                      <a:lnTo>
                        <a:pt x="1648540" y="914400"/>
                      </a:lnTo>
                      <a:cubicBezTo>
                        <a:pt x="1243086" y="914400"/>
                        <a:pt x="914400" y="1243086"/>
                        <a:pt x="914400" y="1648540"/>
                      </a:cubicBezTo>
                      <a:lnTo>
                        <a:pt x="914400" y="2059200"/>
                      </a:lnTo>
                      <a:cubicBezTo>
                        <a:pt x="914400" y="1554191"/>
                        <a:pt x="505009" y="1144800"/>
                        <a:pt x="0" y="1144800"/>
                      </a:cubicBezTo>
                      <a:lnTo>
                        <a:pt x="410660" y="1144800"/>
                      </a:lnTo>
                      <a:cubicBezTo>
                        <a:pt x="816114" y="1144800"/>
                        <a:pt x="1144800" y="816114"/>
                        <a:pt x="1144800" y="410660"/>
                      </a:cubicBezTo>
                      <a:lnTo>
                        <a:pt x="11448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25A6B16-BD7F-62AB-A63A-F53199B16C1B}"/>
                    </a:ext>
                  </a:extLst>
                </p:cNvPr>
                <p:cNvSpPr/>
                <p:nvPr/>
              </p:nvSpPr>
              <p:spPr>
                <a:xfrm>
                  <a:off x="7430400" y="21708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440384E1-7C93-0FE3-5896-E88A2C51D4E6}"/>
                    </a:ext>
                  </a:extLst>
                </p:cNvPr>
                <p:cNvSpPr/>
                <p:nvPr/>
              </p:nvSpPr>
              <p:spPr>
                <a:xfrm>
                  <a:off x="5371200" y="42300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B78288C8-BA88-87B0-E24B-E688C8C4E3AF}"/>
                  </a:ext>
                </a:extLst>
              </p:cNvPr>
              <p:cNvSpPr/>
              <p:nvPr/>
            </p:nvSpPr>
            <p:spPr>
              <a:xfrm>
                <a:off x="5931190" y="2238929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latin typeface="Britannic Bold" panose="020B0903060703020204" pitchFamily="34" charset="0"/>
                  </a:rPr>
                  <a:t> </a:t>
                </a:r>
              </a:p>
              <a:p>
                <a:r>
                  <a:rPr lang="en-IN" dirty="0">
                    <a:latin typeface="Britannic Bold" panose="020B0903060703020204" pitchFamily="34" charset="0"/>
                  </a:rPr>
                  <a:t> 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8DC18A0-FCBB-BABE-27E8-2B7301CDF94D}"/>
                  </a:ext>
                </a:extLst>
              </p:cNvPr>
              <p:cNvSpPr/>
              <p:nvPr/>
            </p:nvSpPr>
            <p:spPr>
              <a:xfrm>
                <a:off x="3462898" y="4304407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E1F15396-E08B-BBDC-A545-F78AFD6CFA17}"/>
                  </a:ext>
                </a:extLst>
              </p:cNvPr>
              <p:cNvSpPr/>
              <p:nvPr/>
            </p:nvSpPr>
            <p:spPr>
              <a:xfrm>
                <a:off x="8351024" y="4335331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63BC63D-8E52-2275-36CB-FF1304049470}"/>
                  </a:ext>
                </a:extLst>
              </p:cNvPr>
              <p:cNvSpPr txBox="1"/>
              <p:nvPr/>
            </p:nvSpPr>
            <p:spPr>
              <a:xfrm>
                <a:off x="3894696" y="4571216"/>
                <a:ext cx="926625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01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CE30652-271F-4AB1-8896-D32288516538}"/>
                  </a:ext>
                </a:extLst>
              </p:cNvPr>
              <p:cNvSpPr txBox="1"/>
              <p:nvPr/>
            </p:nvSpPr>
            <p:spPr>
              <a:xfrm>
                <a:off x="6270684" y="2682728"/>
                <a:ext cx="1080745" cy="10839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02</a:t>
                </a:r>
              </a:p>
              <a:p>
                <a:pPr algn="ctr"/>
                <a:endParaRPr lang="en-IN" b="1" dirty="0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CDF5BD5-D6AE-259A-0C09-0EF2AEE8E16E}"/>
                </a:ext>
              </a:extLst>
            </p:cNvPr>
            <p:cNvGrpSpPr/>
            <p:nvPr/>
          </p:nvGrpSpPr>
          <p:grpSpPr>
            <a:xfrm rot="5117550">
              <a:off x="8214793" y="1214384"/>
              <a:ext cx="4024651" cy="4219635"/>
              <a:chOff x="5537776" y="2170800"/>
              <a:chExt cx="3721424" cy="3901718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255DA6E-FE7D-4BF8-D39C-A8023FA9510A}"/>
                  </a:ext>
                </a:extLst>
              </p:cNvPr>
              <p:cNvSpPr/>
              <p:nvPr/>
            </p:nvSpPr>
            <p:spPr>
              <a:xfrm>
                <a:off x="6285600" y="3085200"/>
                <a:ext cx="2059200" cy="2059200"/>
              </a:xfrm>
              <a:custGeom>
                <a:avLst/>
                <a:gdLst>
                  <a:gd name="csX0" fmla="*/ 1144800 w 2059200"/>
                  <a:gd name="csY0" fmla="*/ 0 h 2059200"/>
                  <a:gd name="csX1" fmla="*/ 2059200 w 2059200"/>
                  <a:gd name="csY1" fmla="*/ 914400 h 2059200"/>
                  <a:gd name="csX2" fmla="*/ 1648540 w 2059200"/>
                  <a:gd name="csY2" fmla="*/ 914400 h 2059200"/>
                  <a:gd name="csX3" fmla="*/ 914400 w 2059200"/>
                  <a:gd name="csY3" fmla="*/ 1648540 h 2059200"/>
                  <a:gd name="csX4" fmla="*/ 914400 w 2059200"/>
                  <a:gd name="csY4" fmla="*/ 2059200 h 2059200"/>
                  <a:gd name="csX5" fmla="*/ 0 w 2059200"/>
                  <a:gd name="csY5" fmla="*/ 1144800 h 2059200"/>
                  <a:gd name="csX6" fmla="*/ 410660 w 2059200"/>
                  <a:gd name="csY6" fmla="*/ 1144800 h 2059200"/>
                  <a:gd name="csX7" fmla="*/ 1144800 w 2059200"/>
                  <a:gd name="csY7" fmla="*/ 410660 h 2059200"/>
                  <a:gd name="csX8" fmla="*/ 1144800 w 2059200"/>
                  <a:gd name="csY8" fmla="*/ 0 h 2059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059200" h="2059200">
                    <a:moveTo>
                      <a:pt x="1144800" y="0"/>
                    </a:moveTo>
                    <a:cubicBezTo>
                      <a:pt x="1144800" y="505009"/>
                      <a:pt x="1554191" y="914400"/>
                      <a:pt x="2059200" y="914400"/>
                    </a:cubicBezTo>
                    <a:lnTo>
                      <a:pt x="1648540" y="914400"/>
                    </a:lnTo>
                    <a:cubicBezTo>
                      <a:pt x="1243086" y="914400"/>
                      <a:pt x="914400" y="1243086"/>
                      <a:pt x="914400" y="1648540"/>
                    </a:cubicBezTo>
                    <a:lnTo>
                      <a:pt x="914400" y="2059200"/>
                    </a:lnTo>
                    <a:cubicBezTo>
                      <a:pt x="914400" y="1554191"/>
                      <a:pt x="505009" y="1144800"/>
                      <a:pt x="0" y="1144800"/>
                    </a:cubicBezTo>
                    <a:lnTo>
                      <a:pt x="410660" y="1144800"/>
                    </a:lnTo>
                    <a:cubicBezTo>
                      <a:pt x="816114" y="1144800"/>
                      <a:pt x="1144800" y="816114"/>
                      <a:pt x="1144800" y="410660"/>
                    </a:cubicBezTo>
                    <a:lnTo>
                      <a:pt x="114480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E996DF5-4A1A-F904-1497-4FE92AF156B3}"/>
                  </a:ext>
                </a:extLst>
              </p:cNvPr>
              <p:cNvSpPr/>
              <p:nvPr/>
            </p:nvSpPr>
            <p:spPr>
              <a:xfrm>
                <a:off x="7430400" y="217080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7B5C3D8-6114-C621-13E5-18CA49DBB8F8}"/>
                  </a:ext>
                </a:extLst>
              </p:cNvPr>
              <p:cNvSpPr/>
              <p:nvPr/>
            </p:nvSpPr>
            <p:spPr>
              <a:xfrm>
                <a:off x="5537776" y="4243718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7583982-6768-3ED2-0B32-CFD42260C542}"/>
                </a:ext>
              </a:extLst>
            </p:cNvPr>
            <p:cNvGrpSpPr/>
            <p:nvPr/>
          </p:nvGrpSpPr>
          <p:grpSpPr>
            <a:xfrm>
              <a:off x="6174590" y="1586799"/>
              <a:ext cx="6173135" cy="3477121"/>
              <a:chOff x="6190996" y="1602989"/>
              <a:chExt cx="6173135" cy="3477121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24EE73F-7DEC-439D-265B-82282E515005}"/>
                  </a:ext>
                </a:extLst>
              </p:cNvPr>
              <p:cNvSpPr/>
              <p:nvPr/>
            </p:nvSpPr>
            <p:spPr>
              <a:xfrm>
                <a:off x="8203396" y="1602989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A9DFCD4-2814-3082-F027-D444E22A811E}"/>
                  </a:ext>
                </a:extLst>
              </p:cNvPr>
              <p:cNvSpPr/>
              <p:nvPr/>
            </p:nvSpPr>
            <p:spPr>
              <a:xfrm>
                <a:off x="10637301" y="3434910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ED519D2-84BB-12B3-6452-09843254937F}"/>
                  </a:ext>
                </a:extLst>
              </p:cNvPr>
              <p:cNvSpPr txBox="1"/>
              <p:nvPr/>
            </p:nvSpPr>
            <p:spPr>
              <a:xfrm>
                <a:off x="6190996" y="3843005"/>
                <a:ext cx="1124204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03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BA3582A-F2AB-AA80-1D6A-1E729471CE13}"/>
                  </a:ext>
                </a:extLst>
              </p:cNvPr>
              <p:cNvSpPr txBox="1"/>
              <p:nvPr/>
            </p:nvSpPr>
            <p:spPr>
              <a:xfrm>
                <a:off x="8588959" y="1944909"/>
                <a:ext cx="1358088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04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19251C4-6FC6-F8D3-882E-BBE4FA3CDD3B}"/>
                  </a:ext>
                </a:extLst>
              </p:cNvPr>
              <p:cNvSpPr txBox="1"/>
              <p:nvPr/>
            </p:nvSpPr>
            <p:spPr>
              <a:xfrm>
                <a:off x="11006043" y="3718344"/>
                <a:ext cx="1358088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05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72FBD1C-7375-3692-2923-2EE6DED818D7}"/>
              </a:ext>
            </a:extLst>
          </p:cNvPr>
          <p:cNvGrpSpPr/>
          <p:nvPr/>
        </p:nvGrpSpPr>
        <p:grpSpPr>
          <a:xfrm>
            <a:off x="728578" y="1661314"/>
            <a:ext cx="2568538" cy="2342808"/>
            <a:chOff x="1194681" y="1510808"/>
            <a:chExt cx="2568538" cy="2342808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143078F-0372-FC41-DA64-4D5103C91C75}"/>
                </a:ext>
              </a:extLst>
            </p:cNvPr>
            <p:cNvSpPr/>
            <p:nvPr/>
          </p:nvSpPr>
          <p:spPr>
            <a:xfrm>
              <a:off x="1194681" y="1510808"/>
              <a:ext cx="2568538" cy="2342808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C2DEF17-29C6-7424-26D9-57B7CF751F14}"/>
                </a:ext>
              </a:extLst>
            </p:cNvPr>
            <p:cNvSpPr txBox="1"/>
            <p:nvPr/>
          </p:nvSpPr>
          <p:spPr>
            <a:xfrm>
              <a:off x="1263887" y="1603407"/>
              <a:ext cx="2390679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b="1" dirty="0"/>
                <a:t>1. </a:t>
              </a:r>
              <a:r>
                <a:rPr lang="en-IN" sz="2000" b="1" dirty="0"/>
                <a:t>Monitor Overtime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Track overtime patterns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Review workload and work-life balance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2750EF-4E7C-466B-061A-B564C60D6FDA}"/>
              </a:ext>
            </a:extLst>
          </p:cNvPr>
          <p:cNvGrpSpPr/>
          <p:nvPr/>
        </p:nvGrpSpPr>
        <p:grpSpPr>
          <a:xfrm>
            <a:off x="3320770" y="4784018"/>
            <a:ext cx="2736724" cy="2678489"/>
            <a:chOff x="3741325" y="4384680"/>
            <a:chExt cx="2736724" cy="2678489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C52BFABF-7ACB-4159-A4CF-D1ECE89C7389}"/>
                </a:ext>
              </a:extLst>
            </p:cNvPr>
            <p:cNvSpPr/>
            <p:nvPr/>
          </p:nvSpPr>
          <p:spPr>
            <a:xfrm>
              <a:off x="3741325" y="4384680"/>
              <a:ext cx="2736724" cy="2678489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F836C77-DA8A-2164-4CF8-59DBBE819B3C}"/>
                </a:ext>
              </a:extLst>
            </p:cNvPr>
            <p:cNvSpPr txBox="1"/>
            <p:nvPr/>
          </p:nvSpPr>
          <p:spPr>
            <a:xfrm>
              <a:off x="3841235" y="4429620"/>
              <a:ext cx="2523618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2</a:t>
              </a:r>
              <a:r>
                <a:rPr lang="en-IN" b="1" dirty="0"/>
                <a:t>. </a:t>
              </a:r>
              <a:r>
                <a:rPr lang="en-IN" sz="2000" b="1" dirty="0"/>
                <a:t>Focus on Younger          Employees</a:t>
              </a:r>
              <a:endParaRPr lang="en-IN" b="1" dirty="0"/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Monitor their attrition patterns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Support engagement and career development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42D200-7D56-F133-A8D7-278F0BA44234}"/>
              </a:ext>
            </a:extLst>
          </p:cNvPr>
          <p:cNvGrpSpPr/>
          <p:nvPr/>
        </p:nvGrpSpPr>
        <p:grpSpPr>
          <a:xfrm>
            <a:off x="5907375" y="1336791"/>
            <a:ext cx="2787917" cy="2388374"/>
            <a:chOff x="6361641" y="1157611"/>
            <a:chExt cx="2787917" cy="2388374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14FD7ABD-59E3-E33B-A725-3E2596F2D285}"/>
                </a:ext>
              </a:extLst>
            </p:cNvPr>
            <p:cNvSpPr/>
            <p:nvPr/>
          </p:nvSpPr>
          <p:spPr>
            <a:xfrm>
              <a:off x="6361641" y="1166714"/>
              <a:ext cx="2736724" cy="2379271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2184919-9B18-F491-1B61-45E2FDF39E83}"/>
                </a:ext>
              </a:extLst>
            </p:cNvPr>
            <p:cNvSpPr txBox="1"/>
            <p:nvPr/>
          </p:nvSpPr>
          <p:spPr>
            <a:xfrm>
              <a:off x="6454739" y="1157611"/>
              <a:ext cx="2694819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3.</a:t>
              </a:r>
              <a:r>
                <a:rPr lang="en-IN" sz="2400" b="1" dirty="0"/>
                <a:t> </a:t>
              </a:r>
              <a:r>
                <a:rPr lang="en-IN" sz="2000" b="1" dirty="0"/>
                <a:t>Review Compensation</a:t>
              </a:r>
              <a:endParaRPr lang="en-IN" b="1" dirty="0"/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Analyse income-related attrition patterns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Consider experience and job level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E60C9D-470D-1472-34E0-A3CAB5D85CD9}"/>
              </a:ext>
            </a:extLst>
          </p:cNvPr>
          <p:cNvGrpSpPr/>
          <p:nvPr/>
        </p:nvGrpSpPr>
        <p:grpSpPr>
          <a:xfrm>
            <a:off x="8564859" y="4773105"/>
            <a:ext cx="2545874" cy="2505155"/>
            <a:chOff x="9022125" y="4094161"/>
            <a:chExt cx="2545874" cy="2505155"/>
          </a:xfrm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E9F6667F-D03D-88BD-04CB-9921D95077BA}"/>
                </a:ext>
              </a:extLst>
            </p:cNvPr>
            <p:cNvSpPr/>
            <p:nvPr/>
          </p:nvSpPr>
          <p:spPr>
            <a:xfrm>
              <a:off x="9022125" y="4094161"/>
              <a:ext cx="2545874" cy="2505155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5BB6819-A564-AA5A-02FC-C9FB7B301DA8}"/>
                </a:ext>
              </a:extLst>
            </p:cNvPr>
            <p:cNvSpPr txBox="1"/>
            <p:nvPr/>
          </p:nvSpPr>
          <p:spPr>
            <a:xfrm>
              <a:off x="9105260" y="4132160"/>
              <a:ext cx="2408894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4. Monitor Department &amp; Role Attrition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Compare attrition percentages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Identify areas needing attention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BDE0E21-F701-0396-2862-203ED0B4B292}"/>
              </a:ext>
            </a:extLst>
          </p:cNvPr>
          <p:cNvGrpSpPr/>
          <p:nvPr/>
        </p:nvGrpSpPr>
        <p:grpSpPr>
          <a:xfrm>
            <a:off x="11175874" y="1472537"/>
            <a:ext cx="2545873" cy="2602144"/>
            <a:chOff x="11175874" y="1472537"/>
            <a:chExt cx="2545873" cy="2602144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ACA05032-3EEC-E63E-85BA-2E88AD7E3A92}"/>
                </a:ext>
              </a:extLst>
            </p:cNvPr>
            <p:cNvSpPr/>
            <p:nvPr/>
          </p:nvSpPr>
          <p:spPr>
            <a:xfrm>
              <a:off x="11175874" y="1472537"/>
              <a:ext cx="2545873" cy="2602144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E3786AF-5396-9231-C18B-9222D3388A6F}"/>
                </a:ext>
              </a:extLst>
            </p:cNvPr>
            <p:cNvSpPr txBox="1"/>
            <p:nvPr/>
          </p:nvSpPr>
          <p:spPr>
            <a:xfrm>
              <a:off x="11254357" y="1535372"/>
              <a:ext cx="2370033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6. Continuous EDA &amp; Monitoring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Regularly analyse workforce data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Update dashboards and HR insights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901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732C-FB05-005D-77C9-641B69960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1C213-967E-6CA5-3AD3-98BCD9D2C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AD560C-5B98-ED81-D398-7C0498D78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3D716B-9000-E161-397E-6664F6251EEF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10/11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72001-E344-C49D-9F69-2FDA2419D108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6C49E-E143-4ACF-17B5-C33E2DBC1B3E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9F28BE-ACD0-31D5-C1E6-930531CBBE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059960-46E7-F137-239B-78FC2D2EF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94C99F-6F14-9FA1-B56C-3FA36CCC8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89" name="Oval 88">
            <a:extLst>
              <a:ext uri="{FF2B5EF4-FFF2-40B4-BE49-F238E27FC236}">
                <a16:creationId xmlns:a16="http://schemas.microsoft.com/office/drawing/2014/main" id="{461B90D2-C4C5-A23D-6B3D-08A8DE3BC829}"/>
              </a:ext>
            </a:extLst>
          </p:cNvPr>
          <p:cNvSpPr/>
          <p:nvPr/>
        </p:nvSpPr>
        <p:spPr>
          <a:xfrm>
            <a:off x="344525" y="2055844"/>
            <a:ext cx="819929" cy="847835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BB598B6-4AD4-84F3-2679-41D2790955EE}"/>
              </a:ext>
            </a:extLst>
          </p:cNvPr>
          <p:cNvSpPr/>
          <p:nvPr/>
        </p:nvSpPr>
        <p:spPr>
          <a:xfrm>
            <a:off x="344525" y="4061611"/>
            <a:ext cx="819929" cy="847835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EC541E5-1C56-F88D-4F38-056177A64588}"/>
              </a:ext>
            </a:extLst>
          </p:cNvPr>
          <p:cNvSpPr/>
          <p:nvPr/>
        </p:nvSpPr>
        <p:spPr>
          <a:xfrm>
            <a:off x="344525" y="6074205"/>
            <a:ext cx="819929" cy="818570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C1DDD95-4725-8342-EE25-4C728394D49F}"/>
              </a:ext>
            </a:extLst>
          </p:cNvPr>
          <p:cNvSpPr/>
          <p:nvPr/>
        </p:nvSpPr>
        <p:spPr>
          <a:xfrm>
            <a:off x="344525" y="5069577"/>
            <a:ext cx="819929" cy="847834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940A69CB-F18C-BF72-25D6-F7189C962DC0}"/>
              </a:ext>
            </a:extLst>
          </p:cNvPr>
          <p:cNvSpPr/>
          <p:nvPr/>
        </p:nvSpPr>
        <p:spPr>
          <a:xfrm>
            <a:off x="1397401" y="2069127"/>
            <a:ext cx="5811370" cy="870027"/>
          </a:xfrm>
          <a:prstGeom prst="flowChartProcess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E2B0B-7EF2-A8B5-FFBD-F9AAC77C6A96}"/>
              </a:ext>
            </a:extLst>
          </p:cNvPr>
          <p:cNvSpPr txBox="1"/>
          <p:nvPr/>
        </p:nvSpPr>
        <p:spPr>
          <a:xfrm>
            <a:off x="1475891" y="2063052"/>
            <a:ext cx="5612266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DATA QUALITY &amp; CONSISTENCY</a:t>
            </a:r>
          </a:p>
          <a:p>
            <a:r>
              <a:rPr lang="en-US" sz="1600" dirty="0"/>
              <a:t>HR data is scattered across multiple systems with inconsistent formats, missing values and duplicates.</a:t>
            </a:r>
            <a:endParaRPr lang="en-IN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A03561-0BF5-9722-972D-CFCF32D24FC5}"/>
              </a:ext>
            </a:extLst>
          </p:cNvPr>
          <p:cNvCxnSpPr>
            <a:cxnSpLocks/>
          </p:cNvCxnSpPr>
          <p:nvPr/>
        </p:nvCxnSpPr>
        <p:spPr>
          <a:xfrm>
            <a:off x="1344769" y="2069128"/>
            <a:ext cx="0" cy="870026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8" name="Graphic 16" descr="CheckList with solid fill">
            <a:extLst>
              <a:ext uri="{FF2B5EF4-FFF2-40B4-BE49-F238E27FC236}">
                <a16:creationId xmlns:a16="http://schemas.microsoft.com/office/drawing/2014/main" id="{7B7B7D77-0B43-0B1E-AA84-2D82C6BFC849}"/>
              </a:ext>
            </a:extLst>
          </p:cNvPr>
          <p:cNvGrpSpPr/>
          <p:nvPr/>
        </p:nvGrpSpPr>
        <p:grpSpPr>
          <a:xfrm>
            <a:off x="574226" y="2266201"/>
            <a:ext cx="338005" cy="436136"/>
            <a:chOff x="619126" y="2137248"/>
            <a:chExt cx="338005" cy="436136"/>
          </a:xfrm>
          <a:solidFill>
            <a:schemeClr val="tx1"/>
          </a:solidFill>
        </p:grpSpPr>
        <p:sp>
          <p:nvSpPr>
            <p:cNvPr id="79" name="Free-form: Shape 78">
              <a:extLst>
                <a:ext uri="{FF2B5EF4-FFF2-40B4-BE49-F238E27FC236}">
                  <a16:creationId xmlns:a16="http://schemas.microsoft.com/office/drawing/2014/main" id="{A6586A12-E7B3-810C-B81F-00565C53E08C}"/>
                </a:ext>
              </a:extLst>
            </p:cNvPr>
            <p:cNvSpPr/>
            <p:nvPr/>
          </p:nvSpPr>
          <p:spPr>
            <a:xfrm>
              <a:off x="619126" y="2137248"/>
              <a:ext cx="338005" cy="436136"/>
            </a:xfrm>
            <a:custGeom>
              <a:avLst/>
              <a:gdLst>
                <a:gd name="csX0" fmla="*/ 32710 w 338005"/>
                <a:gd name="csY0" fmla="*/ 32710 h 436136"/>
                <a:gd name="csX1" fmla="*/ 305296 w 338005"/>
                <a:gd name="csY1" fmla="*/ 32710 h 436136"/>
                <a:gd name="csX2" fmla="*/ 305296 w 338005"/>
                <a:gd name="csY2" fmla="*/ 403426 h 436136"/>
                <a:gd name="csX3" fmla="*/ 32710 w 338005"/>
                <a:gd name="csY3" fmla="*/ 403426 h 436136"/>
                <a:gd name="csX4" fmla="*/ 32710 w 338005"/>
                <a:gd name="csY4" fmla="*/ 32710 h 436136"/>
                <a:gd name="csX5" fmla="*/ 0 w 338005"/>
                <a:gd name="csY5" fmla="*/ 436137 h 436136"/>
                <a:gd name="csX6" fmla="*/ 338006 w 338005"/>
                <a:gd name="csY6" fmla="*/ 436137 h 436136"/>
                <a:gd name="csX7" fmla="*/ 338006 w 338005"/>
                <a:gd name="csY7" fmla="*/ 0 h 436136"/>
                <a:gd name="csX8" fmla="*/ 0 w 338005"/>
                <a:gd name="csY8" fmla="*/ 0 h 436136"/>
                <a:gd name="csX9" fmla="*/ 0 w 338005"/>
                <a:gd name="csY9" fmla="*/ 436137 h 4361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38005" h="436136">
                  <a:moveTo>
                    <a:pt x="32710" y="32710"/>
                  </a:moveTo>
                  <a:lnTo>
                    <a:pt x="305296" y="32710"/>
                  </a:lnTo>
                  <a:lnTo>
                    <a:pt x="305296" y="403426"/>
                  </a:lnTo>
                  <a:lnTo>
                    <a:pt x="32710" y="403426"/>
                  </a:lnTo>
                  <a:lnTo>
                    <a:pt x="32710" y="32710"/>
                  </a:lnTo>
                  <a:close/>
                  <a:moveTo>
                    <a:pt x="0" y="436137"/>
                  </a:moveTo>
                  <a:lnTo>
                    <a:pt x="338006" y="436137"/>
                  </a:lnTo>
                  <a:lnTo>
                    <a:pt x="338006" y="0"/>
                  </a:lnTo>
                  <a:lnTo>
                    <a:pt x="0" y="0"/>
                  </a:lnTo>
                  <a:lnTo>
                    <a:pt x="0" y="436137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246841F-F8EA-893F-C3E8-18316222CB22}"/>
                </a:ext>
              </a:extLst>
            </p:cNvPr>
            <p:cNvSpPr/>
            <p:nvPr/>
          </p:nvSpPr>
          <p:spPr>
            <a:xfrm>
              <a:off x="799032" y="2219024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90BAE31-CC14-CF85-7E55-BB8EE4362FF0}"/>
                </a:ext>
              </a:extLst>
            </p:cNvPr>
            <p:cNvSpPr/>
            <p:nvPr/>
          </p:nvSpPr>
          <p:spPr>
            <a:xfrm>
              <a:off x="799032" y="2306251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9C59475-D528-94CF-BBE1-D29FB9AEB498}"/>
                </a:ext>
              </a:extLst>
            </p:cNvPr>
            <p:cNvSpPr/>
            <p:nvPr/>
          </p:nvSpPr>
          <p:spPr>
            <a:xfrm>
              <a:off x="799032" y="2480706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D118FF2-08CB-AA77-3DDB-5DB580E5AFFD}"/>
                </a:ext>
              </a:extLst>
            </p:cNvPr>
            <p:cNvSpPr/>
            <p:nvPr/>
          </p:nvSpPr>
          <p:spPr>
            <a:xfrm>
              <a:off x="799032" y="2393478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4" name="Free-form: Shape 83">
              <a:extLst>
                <a:ext uri="{FF2B5EF4-FFF2-40B4-BE49-F238E27FC236}">
                  <a16:creationId xmlns:a16="http://schemas.microsoft.com/office/drawing/2014/main" id="{AD9DA0EA-9519-F498-733C-18D48ED70FB3}"/>
                </a:ext>
              </a:extLst>
            </p:cNvPr>
            <p:cNvSpPr/>
            <p:nvPr/>
          </p:nvSpPr>
          <p:spPr>
            <a:xfrm>
              <a:off x="684546" y="2191765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5" name="Free-form: Shape 84">
              <a:extLst>
                <a:ext uri="{FF2B5EF4-FFF2-40B4-BE49-F238E27FC236}">
                  <a16:creationId xmlns:a16="http://schemas.microsoft.com/office/drawing/2014/main" id="{9897A1C2-D88F-DE8F-0248-B2ED9B78C76C}"/>
                </a:ext>
              </a:extLst>
            </p:cNvPr>
            <p:cNvSpPr/>
            <p:nvPr/>
          </p:nvSpPr>
          <p:spPr>
            <a:xfrm>
              <a:off x="684546" y="2278993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6" name="Free-form: Shape 85">
              <a:extLst>
                <a:ext uri="{FF2B5EF4-FFF2-40B4-BE49-F238E27FC236}">
                  <a16:creationId xmlns:a16="http://schemas.microsoft.com/office/drawing/2014/main" id="{70346F8E-4017-FA2F-48BA-92006BF47180}"/>
                </a:ext>
              </a:extLst>
            </p:cNvPr>
            <p:cNvSpPr/>
            <p:nvPr/>
          </p:nvSpPr>
          <p:spPr>
            <a:xfrm>
              <a:off x="684546" y="2366220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7" name="Free-form: Shape 86">
              <a:extLst>
                <a:ext uri="{FF2B5EF4-FFF2-40B4-BE49-F238E27FC236}">
                  <a16:creationId xmlns:a16="http://schemas.microsoft.com/office/drawing/2014/main" id="{0BD68DF9-EF9D-F644-A6A2-3448F3B54119}"/>
                </a:ext>
              </a:extLst>
            </p:cNvPr>
            <p:cNvSpPr/>
            <p:nvPr/>
          </p:nvSpPr>
          <p:spPr>
            <a:xfrm>
              <a:off x="684546" y="2452357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47715F1-59B7-D24A-0366-15D7DE4519E7}"/>
              </a:ext>
            </a:extLst>
          </p:cNvPr>
          <p:cNvSpPr/>
          <p:nvPr/>
        </p:nvSpPr>
        <p:spPr>
          <a:xfrm>
            <a:off x="1397401" y="3065370"/>
            <a:ext cx="5811370" cy="84031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D34D24-BB21-E226-5BA0-90EF443A5F9E}"/>
              </a:ext>
            </a:extLst>
          </p:cNvPr>
          <p:cNvSpPr txBox="1"/>
          <p:nvPr/>
        </p:nvSpPr>
        <p:spPr>
          <a:xfrm>
            <a:off x="1475883" y="3059294"/>
            <a:ext cx="5612266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DATA PRIVACY &amp; SECURITY</a:t>
            </a:r>
          </a:p>
          <a:p>
            <a:r>
              <a:rPr lang="en-US" sz="1600" dirty="0"/>
              <a:t>Handling sensitive employee data requires strict access controls and compliance with data protection regulations.</a:t>
            </a:r>
            <a:endParaRPr lang="en-IN" sz="16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9620719-B353-B86F-C242-3FA628B48992}"/>
              </a:ext>
            </a:extLst>
          </p:cNvPr>
          <p:cNvSpPr/>
          <p:nvPr/>
        </p:nvSpPr>
        <p:spPr>
          <a:xfrm>
            <a:off x="344525" y="3065369"/>
            <a:ext cx="819929" cy="847835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4D458FD-A5CF-E09B-83B7-E62607A517C0}"/>
              </a:ext>
            </a:extLst>
          </p:cNvPr>
          <p:cNvCxnSpPr>
            <a:cxnSpLocks/>
          </p:cNvCxnSpPr>
          <p:nvPr/>
        </p:nvCxnSpPr>
        <p:spPr>
          <a:xfrm>
            <a:off x="1344769" y="3065370"/>
            <a:ext cx="0" cy="84031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3A0536F-14A2-6377-0F43-06F4A3A823CB}"/>
              </a:ext>
            </a:extLst>
          </p:cNvPr>
          <p:cNvSpPr/>
          <p:nvPr/>
        </p:nvSpPr>
        <p:spPr>
          <a:xfrm>
            <a:off x="1397401" y="4061611"/>
            <a:ext cx="5811370" cy="824921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47FF77-33FD-58C8-221B-A88460994C6A}"/>
              </a:ext>
            </a:extLst>
          </p:cNvPr>
          <p:cNvSpPr txBox="1"/>
          <p:nvPr/>
        </p:nvSpPr>
        <p:spPr>
          <a:xfrm>
            <a:off x="1475877" y="4055536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AI ADOPTION &amp; TRUST</a:t>
            </a:r>
          </a:p>
          <a:p>
            <a:r>
              <a:rPr lang="en-US" sz="1600" dirty="0"/>
              <a:t>Users may be hesitant to rely on Al insights; building trust in Al-generated responses takes time and education.</a:t>
            </a:r>
            <a:endParaRPr lang="en-IN" sz="16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D98413B-69BE-6D7D-1388-6622B20EA43C}"/>
              </a:ext>
            </a:extLst>
          </p:cNvPr>
          <p:cNvCxnSpPr>
            <a:cxnSpLocks/>
          </p:cNvCxnSpPr>
          <p:nvPr/>
        </p:nvCxnSpPr>
        <p:spPr>
          <a:xfrm>
            <a:off x="1344769" y="4061612"/>
            <a:ext cx="0" cy="82492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CB958EE-582B-877E-EE15-81B4EC7E7048}"/>
              </a:ext>
            </a:extLst>
          </p:cNvPr>
          <p:cNvSpPr/>
          <p:nvPr/>
        </p:nvSpPr>
        <p:spPr>
          <a:xfrm>
            <a:off x="1397401" y="5069577"/>
            <a:ext cx="5811370" cy="82492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D511EB-1449-9565-879B-F05A3655EDF6}"/>
              </a:ext>
            </a:extLst>
          </p:cNvPr>
          <p:cNvSpPr txBox="1"/>
          <p:nvPr/>
        </p:nvSpPr>
        <p:spPr>
          <a:xfrm>
            <a:off x="1475867" y="5063501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PERFORMANCE &amp; SCALABILITY</a:t>
            </a:r>
          </a:p>
          <a:p>
            <a:r>
              <a:rPr lang="en-US" sz="1600" dirty="0"/>
              <a:t>Ensuring fast response times and handling large volumes of data and concurrent users can impact performance.</a:t>
            </a:r>
            <a:endParaRPr lang="en-IN" sz="16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FFE7DD5-620B-9E43-3DF0-4CB8FCCE5818}"/>
              </a:ext>
            </a:extLst>
          </p:cNvPr>
          <p:cNvCxnSpPr>
            <a:cxnSpLocks/>
          </p:cNvCxnSpPr>
          <p:nvPr/>
        </p:nvCxnSpPr>
        <p:spPr>
          <a:xfrm>
            <a:off x="1344769" y="5069577"/>
            <a:ext cx="0" cy="82492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905D9AF-2162-6E72-60CC-C4D9C80895A0}"/>
              </a:ext>
            </a:extLst>
          </p:cNvPr>
          <p:cNvSpPr/>
          <p:nvPr/>
        </p:nvSpPr>
        <p:spPr>
          <a:xfrm>
            <a:off x="1397401" y="6074205"/>
            <a:ext cx="5811370" cy="81857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57BA8E-BA20-7F68-06FD-C8A580A25273}"/>
              </a:ext>
            </a:extLst>
          </p:cNvPr>
          <p:cNvSpPr txBox="1"/>
          <p:nvPr/>
        </p:nvSpPr>
        <p:spPr>
          <a:xfrm>
            <a:off x="1475891" y="6068129"/>
            <a:ext cx="5612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CHANGE MANAGEMENT</a:t>
            </a:r>
          </a:p>
          <a:p>
            <a:r>
              <a:rPr lang="en-US" sz="1600" dirty="0"/>
              <a:t>Adoption depends on user training, awareness and aligning the platform with existing business processes.</a:t>
            </a:r>
            <a:endParaRPr lang="en-IN" sz="1600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1E8312-C3A4-E57A-6CFC-F932D4C35F1E}"/>
              </a:ext>
            </a:extLst>
          </p:cNvPr>
          <p:cNvCxnSpPr>
            <a:cxnSpLocks/>
          </p:cNvCxnSpPr>
          <p:nvPr/>
        </p:nvCxnSpPr>
        <p:spPr>
          <a:xfrm>
            <a:off x="1344769" y="6074205"/>
            <a:ext cx="0" cy="81857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72C0C06-3E2C-CA59-7839-D24263C16042}"/>
              </a:ext>
            </a:extLst>
          </p:cNvPr>
          <p:cNvCxnSpPr>
            <a:cxnSpLocks/>
          </p:cNvCxnSpPr>
          <p:nvPr/>
        </p:nvCxnSpPr>
        <p:spPr>
          <a:xfrm>
            <a:off x="580758" y="1637785"/>
            <a:ext cx="6507399" cy="0"/>
          </a:xfrm>
          <a:prstGeom prst="line">
            <a:avLst/>
          </a:prstGeom>
          <a:ln w="28575">
            <a:solidFill>
              <a:srgbClr val="B3238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0A44307-1D81-279A-7FA5-EA1E0AB6B718}"/>
              </a:ext>
            </a:extLst>
          </p:cNvPr>
          <p:cNvSpPr/>
          <p:nvPr/>
        </p:nvSpPr>
        <p:spPr>
          <a:xfrm>
            <a:off x="2462857" y="1430215"/>
            <a:ext cx="2743200" cy="369324"/>
          </a:xfrm>
          <a:prstGeom prst="roundRect">
            <a:avLst/>
          </a:prstGeom>
          <a:solidFill>
            <a:srgbClr val="C8009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CHALLENGES</a:t>
            </a:r>
          </a:p>
        </p:txBody>
      </p:sp>
      <p:pic>
        <p:nvPicPr>
          <p:cNvPr id="71" name="Graphic 70" descr="Lock with solid fill">
            <a:extLst>
              <a:ext uri="{FF2B5EF4-FFF2-40B4-BE49-F238E27FC236}">
                <a16:creationId xmlns:a16="http://schemas.microsoft.com/office/drawing/2014/main" id="{3BB3449D-BC27-DC0D-F6E5-0BF3FE7AFB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026" y="3188994"/>
            <a:ext cx="587109" cy="587109"/>
          </a:xfrm>
          <a:prstGeom prst="rect">
            <a:avLst/>
          </a:prstGeom>
        </p:spPr>
      </p:pic>
      <p:pic>
        <p:nvPicPr>
          <p:cNvPr id="73" name="Graphic 72" descr="Bar graph with upward trend with solid fill">
            <a:extLst>
              <a:ext uri="{FF2B5EF4-FFF2-40B4-BE49-F238E27FC236}">
                <a16:creationId xmlns:a16="http://schemas.microsoft.com/office/drawing/2014/main" id="{C4303ECB-5345-A9FC-55D3-F73ADD29C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468" y="6233465"/>
            <a:ext cx="541390" cy="54139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87CE770F-C567-BD1C-9066-98EEBAD64B80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925" y="4255533"/>
            <a:ext cx="485843" cy="48584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02B30E8-8232-1D3B-D581-142D86C7A807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</a:blip>
          <a:stretch>
            <a:fillRect/>
          </a:stretch>
        </p:blipFill>
        <p:spPr>
          <a:xfrm>
            <a:off x="474468" y="5208352"/>
            <a:ext cx="547369" cy="547369"/>
          </a:xfrm>
          <a:prstGeom prst="rect">
            <a:avLst/>
          </a:prstGeom>
        </p:spPr>
      </p:pic>
      <p:sp>
        <p:nvSpPr>
          <p:cNvPr id="92" name="Oval 91">
            <a:extLst>
              <a:ext uri="{FF2B5EF4-FFF2-40B4-BE49-F238E27FC236}">
                <a16:creationId xmlns:a16="http://schemas.microsoft.com/office/drawing/2014/main" id="{6BF6F1D6-DD05-D3D6-3E64-45E94E2AB545}"/>
              </a:ext>
            </a:extLst>
          </p:cNvPr>
          <p:cNvSpPr/>
          <p:nvPr/>
        </p:nvSpPr>
        <p:spPr>
          <a:xfrm>
            <a:off x="7420631" y="2067150"/>
            <a:ext cx="819929" cy="847835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D2ECA94-AA11-68F3-F353-829545ABEBBB}"/>
              </a:ext>
            </a:extLst>
          </p:cNvPr>
          <p:cNvSpPr/>
          <p:nvPr/>
        </p:nvSpPr>
        <p:spPr>
          <a:xfrm>
            <a:off x="7399545" y="4061611"/>
            <a:ext cx="819929" cy="847835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C01C5C3-2B39-B515-919A-446B888A79E4}"/>
              </a:ext>
            </a:extLst>
          </p:cNvPr>
          <p:cNvSpPr/>
          <p:nvPr/>
        </p:nvSpPr>
        <p:spPr>
          <a:xfrm>
            <a:off x="7399545" y="6074205"/>
            <a:ext cx="819929" cy="818570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0DFC52A-8D54-E650-EFF9-1AEF2DBF961B}"/>
              </a:ext>
            </a:extLst>
          </p:cNvPr>
          <p:cNvSpPr/>
          <p:nvPr/>
        </p:nvSpPr>
        <p:spPr>
          <a:xfrm>
            <a:off x="7399545" y="5069577"/>
            <a:ext cx="819929" cy="847834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6" name="Flowchart: Process 95">
            <a:extLst>
              <a:ext uri="{FF2B5EF4-FFF2-40B4-BE49-F238E27FC236}">
                <a16:creationId xmlns:a16="http://schemas.microsoft.com/office/drawing/2014/main" id="{82A47B12-9BCB-D38A-DA5A-E9A930783A3A}"/>
              </a:ext>
            </a:extLst>
          </p:cNvPr>
          <p:cNvSpPr/>
          <p:nvPr/>
        </p:nvSpPr>
        <p:spPr>
          <a:xfrm>
            <a:off x="8452421" y="2069127"/>
            <a:ext cx="5811370" cy="870027"/>
          </a:xfrm>
          <a:prstGeom prst="flowChartProcess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D4D7AB-F31A-BF69-197C-52DB4ABD71A4}"/>
              </a:ext>
            </a:extLst>
          </p:cNvPr>
          <p:cNvSpPr txBox="1"/>
          <p:nvPr/>
        </p:nvSpPr>
        <p:spPr>
          <a:xfrm>
            <a:off x="8530911" y="2063052"/>
            <a:ext cx="5612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DEPENDENCY ON DATA SOURCES</a:t>
            </a:r>
          </a:p>
          <a:p>
            <a:r>
              <a:rPr lang="en-US" sz="1600" dirty="0"/>
              <a:t>Insights and recommendations are only as good as the data quality and completeness from source systems.</a:t>
            </a:r>
            <a:endParaRPr lang="en-IN" sz="1600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FF747CF-2356-FEC3-5F44-DB04A24B9CFD}"/>
              </a:ext>
            </a:extLst>
          </p:cNvPr>
          <p:cNvCxnSpPr>
            <a:cxnSpLocks/>
          </p:cNvCxnSpPr>
          <p:nvPr/>
        </p:nvCxnSpPr>
        <p:spPr>
          <a:xfrm>
            <a:off x="8399789" y="2069128"/>
            <a:ext cx="0" cy="870026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C662A48A-1280-8BDF-89B7-94F78A14A42C}"/>
              </a:ext>
            </a:extLst>
          </p:cNvPr>
          <p:cNvSpPr/>
          <p:nvPr/>
        </p:nvSpPr>
        <p:spPr>
          <a:xfrm>
            <a:off x="8452421" y="3065370"/>
            <a:ext cx="5811370" cy="840310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921176A-62A7-610C-E7B9-02B7CC1CA656}"/>
              </a:ext>
            </a:extLst>
          </p:cNvPr>
          <p:cNvSpPr txBox="1"/>
          <p:nvPr/>
        </p:nvSpPr>
        <p:spPr>
          <a:xfrm>
            <a:off x="8530903" y="3059294"/>
            <a:ext cx="5612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RAG RETRIEVAL LIMITATIONS</a:t>
            </a:r>
          </a:p>
          <a:p>
            <a:r>
              <a:rPr lang="en-US" sz="1600" dirty="0"/>
              <a:t>Retrieval quality depends on the relevance and coverage of documents stored in the vector database.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7D2549F-8D37-A236-D306-AB987AF4DF5D}"/>
              </a:ext>
            </a:extLst>
          </p:cNvPr>
          <p:cNvSpPr/>
          <p:nvPr/>
        </p:nvSpPr>
        <p:spPr>
          <a:xfrm>
            <a:off x="7399545" y="3065369"/>
            <a:ext cx="819929" cy="847835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0E5624B-434A-3951-0330-FF98FB00312F}"/>
              </a:ext>
            </a:extLst>
          </p:cNvPr>
          <p:cNvCxnSpPr>
            <a:cxnSpLocks/>
          </p:cNvCxnSpPr>
          <p:nvPr/>
        </p:nvCxnSpPr>
        <p:spPr>
          <a:xfrm>
            <a:off x="8399789" y="3065370"/>
            <a:ext cx="0" cy="84031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7C6D807-5E1E-D5DE-97CA-3CB1F3E1DE08}"/>
              </a:ext>
            </a:extLst>
          </p:cNvPr>
          <p:cNvSpPr/>
          <p:nvPr/>
        </p:nvSpPr>
        <p:spPr>
          <a:xfrm>
            <a:off x="8452421" y="4061611"/>
            <a:ext cx="5811370" cy="824921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647F0FF-772A-4149-3115-5FC2EE967452}"/>
              </a:ext>
            </a:extLst>
          </p:cNvPr>
          <p:cNvSpPr txBox="1"/>
          <p:nvPr/>
        </p:nvSpPr>
        <p:spPr>
          <a:xfrm>
            <a:off x="8530897" y="4055536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REAL-TIME DATA CONSTRAINTS</a:t>
            </a:r>
          </a:p>
          <a:p>
            <a:r>
              <a:rPr lang="en-US" sz="1600" dirty="0"/>
              <a:t>Some insights may not be real-time due to data refresh schedules and system update cycles.</a:t>
            </a:r>
            <a:endParaRPr lang="en-IN" sz="1600" dirty="0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62C69C8-EF89-2A49-DD81-9EC4374466F2}"/>
              </a:ext>
            </a:extLst>
          </p:cNvPr>
          <p:cNvCxnSpPr>
            <a:cxnSpLocks/>
          </p:cNvCxnSpPr>
          <p:nvPr/>
        </p:nvCxnSpPr>
        <p:spPr>
          <a:xfrm>
            <a:off x="8399789" y="4061612"/>
            <a:ext cx="0" cy="82492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E3E9D75-6BC7-0024-215A-5505CC65352E}"/>
              </a:ext>
            </a:extLst>
          </p:cNvPr>
          <p:cNvSpPr/>
          <p:nvPr/>
        </p:nvSpPr>
        <p:spPr>
          <a:xfrm>
            <a:off x="8452421" y="5069577"/>
            <a:ext cx="5811370" cy="824920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C3DFB0A-CC8E-5396-1B06-7994ECA25581}"/>
              </a:ext>
            </a:extLst>
          </p:cNvPr>
          <p:cNvSpPr txBox="1"/>
          <p:nvPr/>
        </p:nvSpPr>
        <p:spPr>
          <a:xfrm>
            <a:off x="8530887" y="5063501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SCOPE BOUNDARIES</a:t>
            </a:r>
          </a:p>
          <a:p>
            <a:r>
              <a:rPr lang="en-US" sz="1600" dirty="0"/>
              <a:t>The current scope focuses on HR analytics and assistant features and may not cover all future business needs.</a:t>
            </a:r>
            <a:endParaRPr lang="en-IN" sz="1600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ED091F6-71C1-E157-FA00-611F85BBCA79}"/>
              </a:ext>
            </a:extLst>
          </p:cNvPr>
          <p:cNvCxnSpPr>
            <a:cxnSpLocks/>
          </p:cNvCxnSpPr>
          <p:nvPr/>
        </p:nvCxnSpPr>
        <p:spPr>
          <a:xfrm>
            <a:off x="8399789" y="5069577"/>
            <a:ext cx="0" cy="82492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600261F-4FC7-A275-821F-CFF9341D4579}"/>
              </a:ext>
            </a:extLst>
          </p:cNvPr>
          <p:cNvSpPr/>
          <p:nvPr/>
        </p:nvSpPr>
        <p:spPr>
          <a:xfrm>
            <a:off x="8452421" y="6074205"/>
            <a:ext cx="5811370" cy="818570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C45E639-FCD0-37C9-857E-7CA0F3E273A9}"/>
              </a:ext>
            </a:extLst>
          </p:cNvPr>
          <p:cNvSpPr txBox="1"/>
          <p:nvPr/>
        </p:nvSpPr>
        <p:spPr>
          <a:xfrm>
            <a:off x="8530911" y="6068129"/>
            <a:ext cx="5612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EVOLVING BUSINESS NEEDS</a:t>
            </a:r>
          </a:p>
          <a:p>
            <a:r>
              <a:rPr lang="en-US" sz="1600" dirty="0"/>
              <a:t>Changing workforce trends and business priorities may require continuous updates and enhancements.</a:t>
            </a:r>
            <a:endParaRPr lang="en-IN" sz="160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5655ABD-1549-BC51-CDED-C91CF90BB415}"/>
              </a:ext>
            </a:extLst>
          </p:cNvPr>
          <p:cNvCxnSpPr>
            <a:cxnSpLocks/>
          </p:cNvCxnSpPr>
          <p:nvPr/>
        </p:nvCxnSpPr>
        <p:spPr>
          <a:xfrm>
            <a:off x="8399789" y="6074205"/>
            <a:ext cx="0" cy="81857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4A40DE8-824A-ED32-1FF5-342DD6B3463A}"/>
              </a:ext>
            </a:extLst>
          </p:cNvPr>
          <p:cNvCxnSpPr>
            <a:cxnSpLocks/>
          </p:cNvCxnSpPr>
          <p:nvPr/>
        </p:nvCxnSpPr>
        <p:spPr>
          <a:xfrm>
            <a:off x="7635778" y="1637785"/>
            <a:ext cx="6507399" cy="0"/>
          </a:xfrm>
          <a:prstGeom prst="line">
            <a:avLst/>
          </a:prstGeom>
          <a:ln w="28575">
            <a:solidFill>
              <a:srgbClr val="009A9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CB123B22-3196-1B33-7EB9-9F3CB545B45E}"/>
              </a:ext>
            </a:extLst>
          </p:cNvPr>
          <p:cNvSpPr/>
          <p:nvPr/>
        </p:nvSpPr>
        <p:spPr>
          <a:xfrm>
            <a:off x="9517877" y="1430215"/>
            <a:ext cx="2743200" cy="369324"/>
          </a:xfrm>
          <a:prstGeom prst="roundRect">
            <a:avLst/>
          </a:prstGeom>
          <a:solidFill>
            <a:srgbClr val="009A9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LIMITATIONS</a:t>
            </a:r>
          </a:p>
        </p:txBody>
      </p:sp>
      <p:pic>
        <p:nvPicPr>
          <p:cNvPr id="129" name="Graphic 128" descr="Business Growth with solid fill">
            <a:extLst>
              <a:ext uri="{FF2B5EF4-FFF2-40B4-BE49-F238E27FC236}">
                <a16:creationId xmlns:a16="http://schemas.microsoft.com/office/drawing/2014/main" id="{94DA5575-5206-D529-B62E-828E20BB3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27490" y="6183910"/>
            <a:ext cx="637652" cy="637652"/>
          </a:xfrm>
          <a:prstGeom prst="rect">
            <a:avLst/>
          </a:prstGeom>
        </p:spPr>
      </p:pic>
      <p:pic>
        <p:nvPicPr>
          <p:cNvPr id="131" name="Graphic 130" descr="Clock with solid fill">
            <a:extLst>
              <a:ext uri="{FF2B5EF4-FFF2-40B4-BE49-F238E27FC236}">
                <a16:creationId xmlns:a16="http://schemas.microsoft.com/office/drawing/2014/main" id="{34B57921-BCB0-E00F-87B1-9D4CFE0A6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97764" y="4166231"/>
            <a:ext cx="638593" cy="638593"/>
          </a:xfrm>
          <a:prstGeom prst="rect">
            <a:avLst/>
          </a:prstGeom>
        </p:spPr>
      </p:pic>
      <p:pic>
        <p:nvPicPr>
          <p:cNvPr id="133" name="Graphic 132" descr="Single gear with solid fill">
            <a:extLst>
              <a:ext uri="{FF2B5EF4-FFF2-40B4-BE49-F238E27FC236}">
                <a16:creationId xmlns:a16="http://schemas.microsoft.com/office/drawing/2014/main" id="{8C3FB335-FFBD-426C-9DD7-96CF95CEF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96027" y="5168406"/>
            <a:ext cx="640591" cy="640591"/>
          </a:xfrm>
          <a:prstGeom prst="rect">
            <a:avLst/>
          </a:prstGeom>
        </p:spPr>
      </p:pic>
      <p:pic>
        <p:nvPicPr>
          <p:cNvPr id="135" name="Graphic 134" descr="Database with solid fill">
            <a:extLst>
              <a:ext uri="{FF2B5EF4-FFF2-40B4-BE49-F238E27FC236}">
                <a16:creationId xmlns:a16="http://schemas.microsoft.com/office/drawing/2014/main" id="{212F6552-22C5-8B71-A11A-8B3A4FD83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41245" y="2216352"/>
            <a:ext cx="569729" cy="569729"/>
          </a:xfrm>
          <a:prstGeom prst="rect">
            <a:avLst/>
          </a:prstGeom>
        </p:spPr>
      </p:pic>
      <p:pic>
        <p:nvPicPr>
          <p:cNvPr id="137" name="Graphic 136" descr="Connections with solid fill">
            <a:extLst>
              <a:ext uri="{FF2B5EF4-FFF2-40B4-BE49-F238E27FC236}">
                <a16:creationId xmlns:a16="http://schemas.microsoft.com/office/drawing/2014/main" id="{28619FD4-46D4-267C-BA9D-8BDF696AB0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79914" y="3182199"/>
            <a:ext cx="638594" cy="6385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4DD17F-76BA-C81E-AC62-95F859997E56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4079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233E2-452B-1B1B-DE8D-6C2B3F84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2D3AC7-E045-1B39-2B20-26681B7EC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A551E2-3D6A-248A-960B-F1A79D3A62F4}"/>
              </a:ext>
            </a:extLst>
          </p:cNvPr>
          <p:cNvSpPr txBox="1"/>
          <p:nvPr/>
        </p:nvSpPr>
        <p:spPr>
          <a:xfrm>
            <a:off x="2593704" y="2757745"/>
            <a:ext cx="959781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0" b="1" dirty="0">
                <a:solidFill>
                  <a:srgbClr val="FF6997"/>
                </a:solidFill>
                <a:latin typeface="Algerian" panose="04020705040A02060702" pitchFamily="82" charset="0"/>
              </a:rPr>
              <a:t>THANK YOU!</a:t>
            </a:r>
            <a:endParaRPr lang="en-IN" sz="13000" b="1" dirty="0">
              <a:solidFill>
                <a:srgbClr val="FF6997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C078F-C922-02D9-192D-4D634DB3B679}"/>
              </a:ext>
            </a:extLst>
          </p:cNvPr>
          <p:cNvSpPr txBox="1"/>
          <p:nvPr/>
        </p:nvSpPr>
        <p:spPr>
          <a:xfrm>
            <a:off x="5427676" y="2162682"/>
            <a:ext cx="3929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latin typeface="Aptos" panose="020B0004020202020204" pitchFamily="34" charset="0"/>
              </a:rPr>
              <a:t>Any Questions?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A4DCE7-3D90-AFB0-FB1A-73796690C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152" y="7689892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438ACC-ED11-07AD-AE72-BE22E4EB34F1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2B9C9-41F9-682E-F8ED-3B31878EF420}"/>
              </a:ext>
            </a:extLst>
          </p:cNvPr>
          <p:cNvSpPr txBox="1"/>
          <p:nvPr/>
        </p:nvSpPr>
        <p:spPr>
          <a:xfrm>
            <a:off x="1238362" y="340651"/>
            <a:ext cx="12226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Workforce Insights Dashboard for Employee Skill and Analytics</a:t>
            </a:r>
            <a:endParaRPr lang="en-IN" sz="36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8AB3C-0198-135D-87DE-DEA72438D36A}"/>
              </a:ext>
            </a:extLst>
          </p:cNvPr>
          <p:cNvSpPr txBox="1"/>
          <p:nvPr/>
        </p:nvSpPr>
        <p:spPr>
          <a:xfrm>
            <a:off x="2100457" y="5274837"/>
            <a:ext cx="29644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150"/>
                </a:solidFill>
              </a:rPr>
              <a:t>Technology Used: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1E0967C-9DF8-2CA6-DDFF-6BA84833AF7D}"/>
              </a:ext>
            </a:extLst>
          </p:cNvPr>
          <p:cNvSpPr/>
          <p:nvPr/>
        </p:nvSpPr>
        <p:spPr>
          <a:xfrm>
            <a:off x="1446572" y="986982"/>
            <a:ext cx="118872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Transforming workforce data into Actionable  HR intelligence using data analytics , RAG, and 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D981B-FC84-6501-DB05-FE4ACAAF06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74A031-C3ED-C9A2-70D4-32404FAC9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65EDEF-B5AE-4B80-1C6F-8E467EB6C9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78BA7B1-2809-1777-EC9F-55CC84523DF3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A41D00-434A-17C8-0AD4-E6F7F83BC0F7}"/>
              </a:ext>
            </a:extLst>
          </p:cNvPr>
          <p:cNvGrpSpPr/>
          <p:nvPr/>
        </p:nvGrpSpPr>
        <p:grpSpPr>
          <a:xfrm>
            <a:off x="2170795" y="5922800"/>
            <a:ext cx="10288810" cy="1161911"/>
            <a:chOff x="2170795" y="5922800"/>
            <a:chExt cx="10288810" cy="1161911"/>
          </a:xfrm>
        </p:grpSpPr>
        <p:pic>
          <p:nvPicPr>
            <p:cNvPr id="17" name="Picture 16" descr="Python ">
              <a:extLst>
                <a:ext uri="{FF2B5EF4-FFF2-40B4-BE49-F238E27FC236}">
                  <a16:creationId xmlns:a16="http://schemas.microsoft.com/office/drawing/2014/main" id="{43172577-7380-E3D1-3450-5C540A24A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42320" y="5935902"/>
              <a:ext cx="687192" cy="68719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9BF9DA1-8ACB-1046-E041-94D72773A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83919" y="5984783"/>
              <a:ext cx="687193" cy="68719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49134B4-7059-27A2-737C-D32D07CB2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90350" y="5984783"/>
              <a:ext cx="721383" cy="68719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AC06B8E-08FF-9222-73BA-D1BBDE866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32550" y="5984782"/>
              <a:ext cx="687194" cy="68719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C741695-9F6C-7E39-359D-DCFF5850C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64076" y="5994946"/>
              <a:ext cx="687193" cy="68719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46F808-2497-6F69-30EC-B480C5459B89}"/>
                </a:ext>
              </a:extLst>
            </p:cNvPr>
            <p:cNvSpPr txBox="1"/>
            <p:nvPr/>
          </p:nvSpPr>
          <p:spPr>
            <a:xfrm>
              <a:off x="2170795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Python</a:t>
              </a:r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E7D6F24-371D-1421-C0C6-2B1C8F74A0B2}"/>
                </a:ext>
              </a:extLst>
            </p:cNvPr>
            <p:cNvSpPr txBox="1"/>
            <p:nvPr/>
          </p:nvSpPr>
          <p:spPr>
            <a:xfrm>
              <a:off x="3417662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Pandas</a:t>
              </a:r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5165A11-529F-F4BE-A608-29C536FA684D}"/>
                </a:ext>
              </a:extLst>
            </p:cNvPr>
            <p:cNvSpPr txBox="1"/>
            <p:nvPr/>
          </p:nvSpPr>
          <p:spPr>
            <a:xfrm>
              <a:off x="4661052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Seaborn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94BD17-0155-34B2-684D-33F1BFC8DC56}"/>
                </a:ext>
              </a:extLst>
            </p:cNvPr>
            <p:cNvSpPr txBox="1"/>
            <p:nvPr/>
          </p:nvSpPr>
          <p:spPr>
            <a:xfrm>
              <a:off x="5861027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Power BI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9131797-C036-BF80-A2DF-6D5C7F522A55}"/>
                </a:ext>
              </a:extLst>
            </p:cNvPr>
            <p:cNvSpPr txBox="1"/>
            <p:nvPr/>
          </p:nvSpPr>
          <p:spPr>
            <a:xfrm>
              <a:off x="8172541" y="6671976"/>
              <a:ext cx="14212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Python Flask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FFFD000-4C72-E2BD-A3E8-FDEC07ABCB7F}"/>
                </a:ext>
              </a:extLst>
            </p:cNvPr>
            <p:cNvGrpSpPr/>
            <p:nvPr/>
          </p:nvGrpSpPr>
          <p:grpSpPr>
            <a:xfrm>
              <a:off x="9695903" y="6006737"/>
              <a:ext cx="1421288" cy="1061961"/>
              <a:chOff x="9635511" y="5159586"/>
              <a:chExt cx="1421288" cy="1061961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AF998B3-E31F-6297-DF73-33814F4962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772500" y="5159586"/>
                <a:ext cx="1066353" cy="68246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1283CD-E49F-449E-AB4E-C212162CF839}"/>
                  </a:ext>
                </a:extLst>
              </p:cNvPr>
              <p:cNvSpPr txBox="1"/>
              <p:nvPr/>
            </p:nvSpPr>
            <p:spPr>
              <a:xfrm>
                <a:off x="9635511" y="5852215"/>
                <a:ext cx="142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dirty="0"/>
                  <a:t>Postgres DB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97AB33E-0FF4-AF8F-6A56-0C4331F481CD}"/>
                </a:ext>
              </a:extLst>
            </p:cNvPr>
            <p:cNvGrpSpPr/>
            <p:nvPr/>
          </p:nvGrpSpPr>
          <p:grpSpPr>
            <a:xfrm>
              <a:off x="11204393" y="6012174"/>
              <a:ext cx="1255212" cy="1072537"/>
              <a:chOff x="11272954" y="5165023"/>
              <a:chExt cx="1255212" cy="1072537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9C9FB01-4329-0FF8-F6D7-6C29E930C086}"/>
                  </a:ext>
                </a:extLst>
              </p:cNvPr>
              <p:cNvSpPr txBox="1"/>
              <p:nvPr/>
            </p:nvSpPr>
            <p:spPr>
              <a:xfrm>
                <a:off x="11272954" y="5868228"/>
                <a:ext cx="12552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dirty="0"/>
                  <a:t>Grok API</a:t>
                </a: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89D1EB0-04F8-394D-A734-4B5F91A53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519566" y="5165023"/>
                <a:ext cx="677030" cy="677030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06BC0A-E74F-BA73-8D78-98DA40F76275}"/>
                </a:ext>
              </a:extLst>
            </p:cNvPr>
            <p:cNvSpPr txBox="1"/>
            <p:nvPr/>
          </p:nvSpPr>
          <p:spPr>
            <a:xfrm>
              <a:off x="7105660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 err="1"/>
                <a:t>Streamlit</a:t>
              </a:r>
              <a:endParaRPr lang="en-IN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9A6A144-CC07-1861-DE59-310D7D491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174553" y="5922800"/>
              <a:ext cx="846367" cy="846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9963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6517</TotalTime>
  <Words>1095</Words>
  <Application>Microsoft Office PowerPoint</Application>
  <PresentationFormat>Custom</PresentationFormat>
  <Paragraphs>224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Times New Roman</vt:lpstr>
      <vt:lpstr>Aptos</vt:lpstr>
      <vt:lpstr>Calibri</vt:lpstr>
      <vt:lpstr>Aptos Display</vt:lpstr>
      <vt:lpstr>Arial</vt:lpstr>
      <vt:lpstr>Algerian</vt:lpstr>
      <vt:lpstr>Franklin Gothic Medium</vt:lpstr>
      <vt:lpstr>Arial Black</vt:lpstr>
      <vt:lpstr>Britannic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Saurabh Kumar</dc:creator>
  <cp:keywords>Saurabh</cp:keywords>
  <cp:lastModifiedBy>SAURABH KUMAR 23SCSE1480054</cp:lastModifiedBy>
  <cp:revision>101</cp:revision>
  <dcterms:created xsi:type="dcterms:W3CDTF">2025-11-11T15:59:12Z</dcterms:created>
  <dcterms:modified xsi:type="dcterms:W3CDTF">2026-09-15T04:52:02Z</dcterms:modified>
</cp:coreProperties>
</file>